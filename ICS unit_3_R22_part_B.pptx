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45"/>
  </p:notesMasterIdLst>
  <p:sldIdLst>
    <p:sldId id="434" r:id="rId3"/>
    <p:sldId id="435"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437" r:id="rId27"/>
    <p:sldId id="441" r:id="rId28"/>
    <p:sldId id="442" r:id="rId29"/>
    <p:sldId id="443" r:id="rId30"/>
    <p:sldId id="444" r:id="rId31"/>
    <p:sldId id="438" r:id="rId32"/>
    <p:sldId id="439" r:id="rId33"/>
    <p:sldId id="445" r:id="rId34"/>
    <p:sldId id="278" r:id="rId35"/>
    <p:sldId id="279" r:id="rId36"/>
    <p:sldId id="280" r:id="rId37"/>
    <p:sldId id="283" r:id="rId38"/>
    <p:sldId id="284" r:id="rId39"/>
    <p:sldId id="446" r:id="rId40"/>
    <p:sldId id="285" r:id="rId41"/>
    <p:sldId id="448" r:id="rId42"/>
    <p:sldId id="286" r:id="rId43"/>
    <p:sldId id="447" r:id="rId4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B7F7F7-D12E-4AE9-9629-C1C5CECE5D20}">
  <a:tblStyle styleId="{7BB7F7F7-D12E-4AE9-9629-C1C5CECE5D20}"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922"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3b0bba745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3b0bba74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3b32d08e7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13b32d08e7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3b32d08e7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3b32d08e7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3b32d08e7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3b32d08e7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3b32d08e7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3b32d08e7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b32d08e7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b32d08e7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b32d08e7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3b32d08e7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3b32d08e7e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3b32d08e7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3b32d08e7e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3b32d08e7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f4769fd9c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f4769fd9c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f4769fd9c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f4769fd9c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f4769fd9c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f4769fd9c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3b32d08e7e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3b32d08e7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3b32d08e7e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3b32d08e7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3b32d08e7e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3b32d08e7e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3b32d08e7e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3b32d08e7e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3b32d08e7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3b32d08e7e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3b32d08e7e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3b32d08e7e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f4769fd9c7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f4769fd9c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f4769fd9c7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f4769fd9c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f4769fd9c7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f4769fd9c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3b32d08e7e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3b32d08e7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f4769fd9c7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f4769fd9c7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f4769fd9c7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f4769fd9c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3b32d08e7e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3b32d08e7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f4769fd9c7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f4769fd9c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f4769fd9c7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f4769fd9c7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f4769fd9c7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f4769fd9c7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66331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96999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0100926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05701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939646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157343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124046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27143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37200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040330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58309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10/22/2024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141372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www.namedroppers.com/"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www.emailtrackerpro.com/" TargetMode="External"/><Relationship Id="rId5" Type="http://schemas.openxmlformats.org/officeDocument/2006/relationships/hyperlink" Target="http://www.nslookup.downloadsoftware4free.com/" TargetMode="External"/><Relationship Id="rId4" Type="http://schemas.openxmlformats.org/officeDocument/2006/relationships/hyperlink" Target="http://www.whois.net/"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https://sancharsaathi.gov.in/sfc/"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Financial%20Fraud%20Brochures%20final.pdf"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0250" y="661511"/>
            <a:ext cx="5143500" cy="1154430"/>
          </a:xfrm>
        </p:spPr>
        <p:txBody>
          <a:bodyPr>
            <a:normAutofit fontScale="90000"/>
          </a:bodyPr>
          <a:lstStyle/>
          <a:p>
            <a:pPr algn="l"/>
            <a:r>
              <a:rPr lang="en-US" sz="1499" dirty="0"/>
              <a:t>		</a:t>
            </a:r>
            <a:br>
              <a:rPr lang="en-US" sz="1499" dirty="0"/>
            </a:br>
            <a:br>
              <a:rPr lang="en-US" sz="1499" dirty="0"/>
            </a:br>
            <a:r>
              <a:rPr lang="en-US" sz="1499" dirty="0"/>
              <a:t>		CMR INSTITUTE OF TECHNOLOGY:HYDERABAD</a:t>
            </a:r>
            <a:br>
              <a:rPr lang="en-US" sz="1499" dirty="0"/>
            </a:br>
            <a:r>
              <a:rPr lang="en-US" sz="1499" dirty="0"/>
              <a:t>	           Department of Computer Science and Engineering</a:t>
            </a:r>
            <a:br>
              <a:rPr lang="en-US" sz="1499" dirty="0"/>
            </a:br>
            <a:br>
              <a:rPr lang="en-US" dirty="0"/>
            </a:br>
            <a:r>
              <a:rPr lang="en-US" dirty="0"/>
              <a:t>                          </a:t>
            </a:r>
          </a:p>
        </p:txBody>
      </p:sp>
      <p:sp>
        <p:nvSpPr>
          <p:cNvPr id="3" name="Subtitle 2"/>
          <p:cNvSpPr>
            <a:spLocks noGrp="1"/>
          </p:cNvSpPr>
          <p:nvPr>
            <p:ph type="subTitle" idx="1"/>
          </p:nvPr>
        </p:nvSpPr>
        <p:spPr>
          <a:xfrm>
            <a:off x="2988103" y="1161188"/>
            <a:ext cx="3600450" cy="383262"/>
          </a:xfrm>
        </p:spPr>
        <p:txBody>
          <a:bodyPr>
            <a:normAutofit fontScale="25000" lnSpcReduction="20000"/>
          </a:bodyPr>
          <a:lstStyle/>
          <a:p>
            <a:r>
              <a:rPr lang="en-US" dirty="0">
                <a:sym typeface="+mn-ea"/>
              </a:rPr>
              <a:t> </a:t>
            </a:r>
          </a:p>
          <a:p>
            <a:r>
              <a:rPr lang="en-US" dirty="0">
                <a:sym typeface="+mn-ea"/>
              </a:rPr>
              <a:t> </a:t>
            </a:r>
            <a:r>
              <a:rPr lang="en-US" sz="2624" dirty="0">
                <a:solidFill>
                  <a:schemeClr val="tx1"/>
                </a:solidFill>
                <a:effectLst>
                  <a:outerShdw blurRad="38100" dist="19050" dir="2700000" algn="tl" rotWithShape="0">
                    <a:schemeClr val="dk1">
                      <a:alpha val="40000"/>
                    </a:schemeClr>
                  </a:outerShdw>
                </a:effectLst>
                <a:sym typeface="+mn-ea"/>
              </a:rPr>
              <a:t>CLASS:III- </a:t>
            </a:r>
            <a:r>
              <a:rPr lang="en-US" sz="2624" dirty="0" err="1">
                <a:solidFill>
                  <a:schemeClr val="tx1"/>
                </a:solidFill>
                <a:effectLst>
                  <a:outerShdw blurRad="38100" dist="19050" dir="2700000" algn="tl" rotWithShape="0">
                    <a:schemeClr val="dk1">
                      <a:alpha val="40000"/>
                    </a:schemeClr>
                  </a:outerShdw>
                </a:effectLst>
                <a:sym typeface="+mn-ea"/>
              </a:rPr>
              <a:t>B.Tech</a:t>
            </a:r>
            <a:r>
              <a:rPr lang="en-US" sz="2624" dirty="0">
                <a:solidFill>
                  <a:schemeClr val="tx1"/>
                </a:solidFill>
                <a:effectLst>
                  <a:outerShdw blurRad="38100" dist="19050" dir="2700000" algn="tl" rotWithShape="0">
                    <a:schemeClr val="dk1">
                      <a:alpha val="40000"/>
                    </a:schemeClr>
                  </a:outerShdw>
                </a:effectLst>
                <a:sym typeface="+mn-ea"/>
              </a:rPr>
              <a:t>  V- SEMESTER </a:t>
            </a:r>
          </a:p>
          <a:p>
            <a:r>
              <a:rPr lang="en-US" sz="2624" dirty="0">
                <a:solidFill>
                  <a:schemeClr val="tx1"/>
                </a:solidFill>
                <a:effectLst>
                  <a:outerShdw blurRad="38100" dist="19050" dir="2700000" algn="tl" rotWithShape="0">
                    <a:schemeClr val="dk1">
                      <a:alpha val="40000"/>
                    </a:schemeClr>
                  </a:outerShdw>
                </a:effectLst>
                <a:sym typeface="+mn-ea"/>
              </a:rPr>
              <a:t>Regulation:R22             </a:t>
            </a:r>
            <a:r>
              <a:rPr lang="en-US" sz="2624" dirty="0">
                <a:sym typeface="+mn-ea"/>
              </a:rPr>
              <a:t> </a:t>
            </a:r>
            <a:endParaRPr lang="en-US" sz="2624" dirty="0"/>
          </a:p>
        </p:txBody>
      </p:sp>
      <p:pic>
        <p:nvPicPr>
          <p:cNvPr id="5" name="image1.png"/>
          <p:cNvPicPr>
            <a:picLocks noChangeAspect="1"/>
          </p:cNvPicPr>
          <p:nvPr>
            <p:custDataLst>
              <p:tags r:id="rId1"/>
            </p:custDataLst>
          </p:nvPr>
        </p:nvPicPr>
        <p:blipFill>
          <a:blip r:embed="rId6"/>
          <a:stretch>
            <a:fillRect/>
          </a:stretch>
        </p:blipFill>
        <p:spPr>
          <a:xfrm>
            <a:off x="2128839" y="728663"/>
            <a:ext cx="693301" cy="600075"/>
          </a:xfrm>
          <a:prstGeom prst="rect">
            <a:avLst/>
          </a:prstGeom>
          <a:noFill/>
          <a:ln w="9525">
            <a:noFill/>
          </a:ln>
        </p:spPr>
      </p:pic>
      <p:graphicFrame>
        <p:nvGraphicFramePr>
          <p:cNvPr id="6" name="Table 5"/>
          <p:cNvGraphicFramePr/>
          <p:nvPr>
            <p:custDataLst>
              <p:tags r:id="rId2"/>
            </p:custDataLst>
          </p:nvPr>
        </p:nvGraphicFramePr>
        <p:xfrm>
          <a:off x="2085976" y="1616958"/>
          <a:ext cx="5318982" cy="605792"/>
        </p:xfrm>
        <a:graphic>
          <a:graphicData uri="http://schemas.openxmlformats.org/drawingml/2006/table">
            <a:tbl>
              <a:tblPr firstRow="1" bandRow="1">
                <a:tableStyleId>{5C22544A-7EE6-4342-B048-85BDC9FD1C3A}</a:tableStyleId>
              </a:tblPr>
              <a:tblGrid>
                <a:gridCol w="1117610">
                  <a:extLst>
                    <a:ext uri="{9D8B030D-6E8A-4147-A177-3AD203B41FA5}">
                      <a16:colId xmlns:a16="http://schemas.microsoft.com/office/drawing/2014/main" val="20000"/>
                    </a:ext>
                  </a:extLst>
                </a:gridCol>
                <a:gridCol w="1975244">
                  <a:extLst>
                    <a:ext uri="{9D8B030D-6E8A-4147-A177-3AD203B41FA5}">
                      <a16:colId xmlns:a16="http://schemas.microsoft.com/office/drawing/2014/main" val="20001"/>
                    </a:ext>
                  </a:extLst>
                </a:gridCol>
                <a:gridCol w="896486">
                  <a:extLst>
                    <a:ext uri="{9D8B030D-6E8A-4147-A177-3AD203B41FA5}">
                      <a16:colId xmlns:a16="http://schemas.microsoft.com/office/drawing/2014/main" val="20002"/>
                    </a:ext>
                  </a:extLst>
                </a:gridCol>
                <a:gridCol w="1329642">
                  <a:extLst>
                    <a:ext uri="{9D8B030D-6E8A-4147-A177-3AD203B41FA5}">
                      <a16:colId xmlns:a16="http://schemas.microsoft.com/office/drawing/2014/main" val="20003"/>
                    </a:ext>
                  </a:extLst>
                </a:gridCol>
              </a:tblGrid>
              <a:tr h="211455">
                <a:tc>
                  <a:txBody>
                    <a:bodyPr/>
                    <a:lstStyle/>
                    <a:p>
                      <a:pPr>
                        <a:buNone/>
                      </a:pPr>
                      <a:r>
                        <a:rPr lang="en-US" sz="1100">
                          <a:sym typeface="+mn-ea"/>
                        </a:rPr>
                        <a:t>Course Code</a:t>
                      </a:r>
                      <a:endParaRPr lang="en-US" sz="1100"/>
                    </a:p>
                  </a:txBody>
                  <a:tcPr marL="51435" marR="51435" marT="25718" marB="25718"/>
                </a:tc>
                <a:tc>
                  <a:txBody>
                    <a:bodyPr/>
                    <a:lstStyle/>
                    <a:p>
                      <a:pPr>
                        <a:buNone/>
                      </a:pPr>
                      <a:r>
                        <a:rPr lang="en-US" sz="1100" dirty="0">
                          <a:sym typeface="+mn-ea"/>
                        </a:rPr>
                        <a:t>Subject</a:t>
                      </a:r>
                      <a:endParaRPr lang="en-US" sz="1100" dirty="0"/>
                    </a:p>
                  </a:txBody>
                  <a:tcPr marL="51435" marR="51435" marT="25718" marB="25718"/>
                </a:tc>
                <a:tc>
                  <a:txBody>
                    <a:bodyPr/>
                    <a:lstStyle/>
                    <a:p>
                      <a:pPr>
                        <a:buNone/>
                      </a:pPr>
                      <a:r>
                        <a:rPr lang="en-US" sz="1100"/>
                        <a:t>POs</a:t>
                      </a:r>
                    </a:p>
                  </a:txBody>
                  <a:tcPr marL="51435" marR="51435" marT="25718" marB="25718"/>
                </a:tc>
                <a:tc>
                  <a:txBody>
                    <a:bodyPr/>
                    <a:lstStyle/>
                    <a:p>
                      <a:pPr>
                        <a:buNone/>
                      </a:pPr>
                      <a:r>
                        <a:rPr lang="en-US" sz="1100"/>
                        <a:t>PSOs</a:t>
                      </a:r>
                    </a:p>
                  </a:txBody>
                  <a:tcPr marL="51435" marR="51435" marT="25718" marB="25718"/>
                </a:tc>
                <a:extLst>
                  <a:ext uri="{0D108BD9-81ED-4DB2-BD59-A6C34878D82A}">
                    <a16:rowId xmlns:a16="http://schemas.microsoft.com/office/drawing/2014/main" val="10000"/>
                  </a:ext>
                </a:extLst>
              </a:tr>
              <a:tr h="371475">
                <a:tc>
                  <a:txBody>
                    <a:bodyPr/>
                    <a:lstStyle/>
                    <a:p>
                      <a:pPr>
                        <a:buNone/>
                      </a:pPr>
                      <a:r>
                        <a:rPr lang="en-US" sz="1100">
                          <a:sym typeface="+mn-ea"/>
                        </a:rPr>
                        <a:t>22CSPC54</a:t>
                      </a:r>
                      <a:endParaRPr lang="en-US" sz="1100"/>
                    </a:p>
                  </a:txBody>
                  <a:tcPr marL="51435" marR="51435" marT="25718" marB="25718"/>
                </a:tc>
                <a:tc>
                  <a:txBody>
                    <a:bodyPr/>
                    <a:lstStyle/>
                    <a:p>
                      <a:pPr>
                        <a:buNone/>
                      </a:pPr>
                      <a:r>
                        <a:rPr lang="en-US" sz="1100">
                          <a:sym typeface="+mn-ea"/>
                        </a:rPr>
                        <a:t>Information and Cyber Security</a:t>
                      </a:r>
                    </a:p>
                    <a:p>
                      <a:pPr>
                        <a:buNone/>
                      </a:pPr>
                      <a:endParaRPr lang="en-US" sz="1100"/>
                    </a:p>
                  </a:txBody>
                  <a:tcPr marL="51435" marR="51435" marT="25718" marB="25718"/>
                </a:tc>
                <a:tc>
                  <a:txBody>
                    <a:bodyPr/>
                    <a:lstStyle/>
                    <a:p>
                      <a:pPr>
                        <a:buNone/>
                      </a:pPr>
                      <a:r>
                        <a:rPr lang="en-US" sz="1100">
                          <a:sym typeface="+mn-ea"/>
                        </a:rPr>
                        <a:t>2,3,6,8,12</a:t>
                      </a:r>
                    </a:p>
                    <a:p>
                      <a:pPr>
                        <a:buNone/>
                      </a:pPr>
                      <a:endParaRPr lang="en-US" sz="1100"/>
                    </a:p>
                  </a:txBody>
                  <a:tcPr marL="51435" marR="51435" marT="25718" marB="25718"/>
                </a:tc>
                <a:tc>
                  <a:txBody>
                    <a:bodyPr/>
                    <a:lstStyle/>
                    <a:p>
                      <a:pPr>
                        <a:buNone/>
                      </a:pPr>
                      <a:r>
                        <a:rPr lang="en-US" sz="1100" dirty="0"/>
                        <a:t>1</a:t>
                      </a:r>
                    </a:p>
                  </a:txBody>
                  <a:tcPr marL="51435" marR="51435" marT="25718" marB="25718"/>
                </a:tc>
                <a:extLst>
                  <a:ext uri="{0D108BD9-81ED-4DB2-BD59-A6C34878D82A}">
                    <a16:rowId xmlns:a16="http://schemas.microsoft.com/office/drawing/2014/main" val="10001"/>
                  </a:ext>
                </a:extLst>
              </a:tr>
            </a:tbl>
          </a:graphicData>
        </a:graphic>
      </p:graphicFrame>
      <p:sp>
        <p:nvSpPr>
          <p:cNvPr id="7" name="Text Box 6"/>
          <p:cNvSpPr txBox="1"/>
          <p:nvPr/>
        </p:nvSpPr>
        <p:spPr>
          <a:xfrm>
            <a:off x="2000551" y="2275131"/>
            <a:ext cx="5404405" cy="248209"/>
          </a:xfrm>
          <a:prstGeom prst="rect">
            <a:avLst/>
          </a:prstGeom>
          <a:noFill/>
        </p:spPr>
        <p:txBody>
          <a:bodyPr wrap="square" rtlCol="0">
            <a:spAutoFit/>
          </a:bodyPr>
          <a:lstStyle/>
          <a:p>
            <a:pPr defTabSz="685800">
              <a:buClrTx/>
            </a:pPr>
            <a:r>
              <a:rPr lang="en-US" sz="1013" kern="1200" dirty="0">
                <a:solidFill>
                  <a:prstClr val="black"/>
                </a:solidFill>
                <a:latin typeface="Calibri"/>
                <a:ea typeface="+mn-ea"/>
                <a:cs typeface="+mn-cs"/>
              </a:rPr>
              <a:t>Course Outcomes (COs) &amp; CO-PO Mapping (3-Strong; 2-Medium; 1-Weak Correlation)</a:t>
            </a:r>
          </a:p>
        </p:txBody>
      </p:sp>
      <p:graphicFrame>
        <p:nvGraphicFramePr>
          <p:cNvPr id="9" name="Table 8"/>
          <p:cNvGraphicFramePr/>
          <p:nvPr>
            <p:custDataLst>
              <p:tags r:id="rId3"/>
            </p:custDataLst>
          </p:nvPr>
        </p:nvGraphicFramePr>
        <p:xfrm>
          <a:off x="2085975" y="2531252"/>
          <a:ext cx="5604875" cy="2037784"/>
        </p:xfrm>
        <a:graphic>
          <a:graphicData uri="http://schemas.openxmlformats.org/drawingml/2006/table">
            <a:tbl>
              <a:tblPr firstRow="1" bandRow="1">
                <a:tableStyleId>{5C22544A-7EE6-4342-B048-85BDC9FD1C3A}</a:tableStyleId>
              </a:tblPr>
              <a:tblGrid>
                <a:gridCol w="354960">
                  <a:extLst>
                    <a:ext uri="{9D8B030D-6E8A-4147-A177-3AD203B41FA5}">
                      <a16:colId xmlns:a16="http://schemas.microsoft.com/office/drawing/2014/main" val="20000"/>
                    </a:ext>
                  </a:extLst>
                </a:gridCol>
                <a:gridCol w="2805480">
                  <a:extLst>
                    <a:ext uri="{9D8B030D-6E8A-4147-A177-3AD203B41FA5}">
                      <a16:colId xmlns:a16="http://schemas.microsoft.com/office/drawing/2014/main" val="20001"/>
                    </a:ext>
                  </a:extLst>
                </a:gridCol>
                <a:gridCol w="382385">
                  <a:extLst>
                    <a:ext uri="{9D8B030D-6E8A-4147-A177-3AD203B41FA5}">
                      <a16:colId xmlns:a16="http://schemas.microsoft.com/office/drawing/2014/main" val="20002"/>
                    </a:ext>
                  </a:extLst>
                </a:gridCol>
                <a:gridCol w="368696">
                  <a:extLst>
                    <a:ext uri="{9D8B030D-6E8A-4147-A177-3AD203B41FA5}">
                      <a16:colId xmlns:a16="http://schemas.microsoft.com/office/drawing/2014/main" val="20003"/>
                    </a:ext>
                  </a:extLst>
                </a:gridCol>
                <a:gridCol w="78701">
                  <a:extLst>
                    <a:ext uri="{9D8B030D-6E8A-4147-A177-3AD203B41FA5}">
                      <a16:colId xmlns:a16="http://schemas.microsoft.com/office/drawing/2014/main" val="20004"/>
                    </a:ext>
                  </a:extLst>
                </a:gridCol>
                <a:gridCol w="351160">
                  <a:extLst>
                    <a:ext uri="{9D8B030D-6E8A-4147-A177-3AD203B41FA5}">
                      <a16:colId xmlns:a16="http://schemas.microsoft.com/office/drawing/2014/main" val="20005"/>
                    </a:ext>
                  </a:extLst>
                </a:gridCol>
                <a:gridCol w="78701">
                  <a:extLst>
                    <a:ext uri="{9D8B030D-6E8A-4147-A177-3AD203B41FA5}">
                      <a16:colId xmlns:a16="http://schemas.microsoft.com/office/drawing/2014/main" val="20006"/>
                    </a:ext>
                  </a:extLst>
                </a:gridCol>
                <a:gridCol w="320364">
                  <a:extLst>
                    <a:ext uri="{9D8B030D-6E8A-4147-A177-3AD203B41FA5}">
                      <a16:colId xmlns:a16="http://schemas.microsoft.com/office/drawing/2014/main" val="20007"/>
                    </a:ext>
                  </a:extLst>
                </a:gridCol>
                <a:gridCol w="78701">
                  <a:extLst>
                    <a:ext uri="{9D8B030D-6E8A-4147-A177-3AD203B41FA5}">
                      <a16:colId xmlns:a16="http://schemas.microsoft.com/office/drawing/2014/main" val="20008"/>
                    </a:ext>
                  </a:extLst>
                </a:gridCol>
                <a:gridCol w="332768">
                  <a:extLst>
                    <a:ext uri="{9D8B030D-6E8A-4147-A177-3AD203B41FA5}">
                      <a16:colId xmlns:a16="http://schemas.microsoft.com/office/drawing/2014/main" val="20009"/>
                    </a:ext>
                  </a:extLst>
                </a:gridCol>
                <a:gridCol w="78701">
                  <a:extLst>
                    <a:ext uri="{9D8B030D-6E8A-4147-A177-3AD203B41FA5}">
                      <a16:colId xmlns:a16="http://schemas.microsoft.com/office/drawing/2014/main" val="20010"/>
                    </a:ext>
                  </a:extLst>
                </a:gridCol>
                <a:gridCol w="374258">
                  <a:extLst>
                    <a:ext uri="{9D8B030D-6E8A-4147-A177-3AD203B41FA5}">
                      <a16:colId xmlns:a16="http://schemas.microsoft.com/office/drawing/2014/main" val="20011"/>
                    </a:ext>
                  </a:extLst>
                </a:gridCol>
              </a:tblGrid>
              <a:tr h="399186">
                <a:tc>
                  <a:txBody>
                    <a:bodyPr/>
                    <a:lstStyle/>
                    <a:p>
                      <a:pPr>
                        <a:buNone/>
                      </a:pPr>
                      <a:r>
                        <a:rPr lang="en-US" sz="700"/>
                        <a:t>COs </a:t>
                      </a:r>
                    </a:p>
                  </a:txBody>
                  <a:tcPr marL="51435" marR="51435" marT="25718" marB="25718"/>
                </a:tc>
                <a:tc>
                  <a:txBody>
                    <a:bodyPr/>
                    <a:lstStyle/>
                    <a:p>
                      <a:pPr>
                        <a:buNone/>
                      </a:pPr>
                      <a:r>
                        <a:rPr lang="en-US" sz="900" dirty="0">
                          <a:sym typeface="+mn-ea"/>
                        </a:rPr>
                        <a:t>Upon completion of course the students will be able to</a:t>
                      </a:r>
                      <a:endParaRPr lang="en-US" sz="900" dirty="0"/>
                    </a:p>
                    <a:p>
                      <a:pPr>
                        <a:buNone/>
                      </a:pPr>
                      <a:endParaRPr lang="en-US" sz="700" dirty="0"/>
                    </a:p>
                  </a:txBody>
                  <a:tcPr marL="51435" marR="51435" marT="25718" marB="25718"/>
                </a:tc>
                <a:tc>
                  <a:txBody>
                    <a:bodyPr/>
                    <a:lstStyle/>
                    <a:p>
                      <a:pPr>
                        <a:buNone/>
                      </a:pPr>
                      <a:r>
                        <a:rPr lang="en-US" sz="700" dirty="0"/>
                        <a:t>PO2 </a:t>
                      </a:r>
                    </a:p>
                  </a:txBody>
                  <a:tcPr marL="51435" marR="51435" marT="25718" marB="25718"/>
                </a:tc>
                <a:tc>
                  <a:txBody>
                    <a:bodyPr/>
                    <a:lstStyle/>
                    <a:p>
                      <a:pPr>
                        <a:buNone/>
                      </a:pPr>
                      <a:r>
                        <a:rPr lang="en-US" sz="700">
                          <a:sym typeface="+mn-ea"/>
                        </a:rPr>
                        <a:t>PO3 </a:t>
                      </a:r>
                      <a:endParaRPr lang="en-US" sz="700"/>
                    </a:p>
                  </a:txBody>
                  <a:tcPr marL="51435" marR="51435" marT="25718" marB="25718"/>
                </a:tc>
                <a:tc gridSpan="2">
                  <a:txBody>
                    <a:bodyPr/>
                    <a:lstStyle/>
                    <a:p>
                      <a:pPr>
                        <a:buNone/>
                      </a:pPr>
                      <a:r>
                        <a:rPr lang="en-US" sz="700">
                          <a:sym typeface="+mn-ea"/>
                        </a:rPr>
                        <a:t>PO6</a:t>
                      </a:r>
                      <a:endParaRPr lang="en-US" sz="700"/>
                    </a:p>
                  </a:txBody>
                  <a:tcPr marL="51435" marR="51435" marT="25718" marB="25718"/>
                </a:tc>
                <a:tc hMerge="1">
                  <a:txBody>
                    <a:bodyPr/>
                    <a:lstStyle/>
                    <a:p>
                      <a:endParaRPr lang="en-US"/>
                    </a:p>
                  </a:txBody>
                  <a:tcPr/>
                </a:tc>
                <a:tc gridSpan="2">
                  <a:txBody>
                    <a:bodyPr/>
                    <a:lstStyle/>
                    <a:p>
                      <a:pPr>
                        <a:buNone/>
                      </a:pPr>
                      <a:r>
                        <a:rPr lang="en-US" sz="700">
                          <a:sym typeface="+mn-ea"/>
                        </a:rPr>
                        <a:t> PO8</a:t>
                      </a:r>
                      <a:endParaRPr lang="en-US" sz="700"/>
                    </a:p>
                  </a:txBody>
                  <a:tcPr marL="51435" marR="51435" marT="25718" marB="25718"/>
                </a:tc>
                <a:tc hMerge="1">
                  <a:txBody>
                    <a:bodyPr/>
                    <a:lstStyle/>
                    <a:p>
                      <a:endParaRPr lang="en-US"/>
                    </a:p>
                  </a:txBody>
                  <a:tcPr/>
                </a:tc>
                <a:tc gridSpan="2">
                  <a:txBody>
                    <a:bodyPr/>
                    <a:lstStyle/>
                    <a:p>
                      <a:pPr>
                        <a:buNone/>
                      </a:pPr>
                      <a:r>
                        <a:rPr lang="en-US" sz="700">
                          <a:sym typeface="+mn-ea"/>
                        </a:rPr>
                        <a:t>PO12</a:t>
                      </a:r>
                      <a:endParaRPr lang="en-US" sz="700"/>
                    </a:p>
                  </a:txBody>
                  <a:tcPr marL="51435" marR="51435" marT="25718" marB="25718"/>
                </a:tc>
                <a:tc hMerge="1">
                  <a:txBody>
                    <a:bodyPr/>
                    <a:lstStyle/>
                    <a:p>
                      <a:endParaRPr lang="en-US"/>
                    </a:p>
                  </a:txBody>
                  <a:tcPr/>
                </a:tc>
                <a:tc gridSpan="2">
                  <a:txBody>
                    <a:bodyPr/>
                    <a:lstStyle/>
                    <a:p>
                      <a:pPr>
                        <a:buNone/>
                      </a:pPr>
                      <a:r>
                        <a:rPr lang="en-US" sz="700">
                          <a:sym typeface="+mn-ea"/>
                        </a:rPr>
                        <a:t>PSO1</a:t>
                      </a:r>
                      <a:endParaRPr lang="en-US" sz="700"/>
                    </a:p>
                  </a:txBody>
                  <a:tcPr marL="51435" marR="51435" marT="25718" marB="25718"/>
                </a:tc>
                <a:tc hMerge="1">
                  <a:txBody>
                    <a:bodyPr/>
                    <a:lstStyle/>
                    <a:p>
                      <a:endParaRPr lang="en-US"/>
                    </a:p>
                  </a:txBody>
                  <a:tcPr/>
                </a:tc>
                <a:extLst>
                  <a:ext uri="{0D108BD9-81ED-4DB2-BD59-A6C34878D82A}">
                    <a16:rowId xmlns:a16="http://schemas.microsoft.com/office/drawing/2014/main" val="10000"/>
                  </a:ext>
                </a:extLst>
              </a:tr>
              <a:tr h="371475">
                <a:tc>
                  <a:txBody>
                    <a:bodyPr/>
                    <a:lstStyle/>
                    <a:p>
                      <a:pPr>
                        <a:buNone/>
                      </a:pPr>
                      <a:r>
                        <a:rPr lang="en-US" sz="700" b="1"/>
                        <a:t>CO1</a:t>
                      </a:r>
                    </a:p>
                  </a:txBody>
                  <a:tcPr marL="51435" marR="51435" marT="25718" marB="25718"/>
                </a:tc>
                <a:tc>
                  <a:txBody>
                    <a:bodyPr/>
                    <a:lstStyle/>
                    <a:p>
                      <a:pPr>
                        <a:buNone/>
                      </a:pPr>
                      <a:r>
                        <a:rPr lang="en-US" sz="1100" b="0" dirty="0"/>
                        <a:t>Explain information and cyber security terminologies</a:t>
                      </a:r>
                    </a:p>
                  </a:txBody>
                  <a:tcPr marL="51435" marR="51435" marT="25718" marB="25718"/>
                </a:tc>
                <a:tc>
                  <a:txBody>
                    <a:bodyPr/>
                    <a:lstStyle/>
                    <a:p>
                      <a:pPr>
                        <a:buNone/>
                      </a:pPr>
                      <a:r>
                        <a:rPr lang="en-US" sz="1100" dirty="0"/>
                        <a:t>2</a:t>
                      </a:r>
                    </a:p>
                  </a:txBody>
                  <a:tcPr marL="51435" marR="51435" marT="25718" marB="25718"/>
                </a:tc>
                <a:tc gridSpan="2">
                  <a:txBody>
                    <a:bodyPr/>
                    <a:lstStyle/>
                    <a:p>
                      <a:pPr>
                        <a:buNone/>
                      </a:pPr>
                      <a:r>
                        <a:rPr lang="en-US" sz="1100"/>
                        <a:t>2</a:t>
                      </a:r>
                    </a:p>
                  </a:txBody>
                  <a:tcPr marL="51435" marR="51435" marT="25718" marB="25718"/>
                </a:tc>
                <a:tc hMerge="1">
                  <a:txBody>
                    <a:bodyPr/>
                    <a:lstStyle/>
                    <a:p>
                      <a:endParaRPr lang="en-US"/>
                    </a:p>
                  </a:txBody>
                  <a:tcPr/>
                </a:tc>
                <a:tc gridSpan="2">
                  <a:txBody>
                    <a:bodyPr/>
                    <a:lstStyle/>
                    <a:p>
                      <a:pPr>
                        <a:buNone/>
                      </a:pPr>
                      <a:r>
                        <a:rPr lang="en-US" sz="1100" dirty="0"/>
                        <a:t>2</a:t>
                      </a:r>
                    </a:p>
                  </a:txBody>
                  <a:tcPr marL="51435" marR="51435" marT="25718" marB="25718"/>
                </a:tc>
                <a:tc hMerge="1">
                  <a:txBody>
                    <a:bodyPr/>
                    <a:lstStyle/>
                    <a:p>
                      <a:endParaRPr lang="en-US"/>
                    </a:p>
                  </a:txBody>
                  <a:tcPr/>
                </a:tc>
                <a:tc gridSpan="2">
                  <a:txBody>
                    <a:bodyPr/>
                    <a:lstStyle/>
                    <a:p>
                      <a:pPr>
                        <a:buNone/>
                      </a:pPr>
                      <a:r>
                        <a:rPr lang="en-US" sz="1100" dirty="0"/>
                        <a:t>3</a:t>
                      </a:r>
                    </a:p>
                  </a:txBody>
                  <a:tcPr marL="51435" marR="51435" marT="25718" marB="25718"/>
                </a:tc>
                <a:tc hMerge="1">
                  <a:txBody>
                    <a:bodyPr/>
                    <a:lstStyle/>
                    <a:p>
                      <a:endParaRPr lang="en-US"/>
                    </a:p>
                  </a:txBody>
                  <a:tcPr/>
                </a:tc>
                <a:tc gridSpan="2">
                  <a:txBody>
                    <a:bodyPr/>
                    <a:lstStyle/>
                    <a:p>
                      <a:pPr>
                        <a:buNone/>
                      </a:pPr>
                      <a:r>
                        <a:rPr lang="en-US" sz="1100"/>
                        <a:t>2</a:t>
                      </a:r>
                    </a:p>
                  </a:txBody>
                  <a:tcPr marL="51435" marR="51435" marT="25718" marB="25718"/>
                </a:tc>
                <a:tc hMerge="1">
                  <a:txBody>
                    <a:bodyPr/>
                    <a:lstStyle/>
                    <a:p>
                      <a:endParaRPr lang="en-US"/>
                    </a:p>
                  </a:txBody>
                  <a:tcPr/>
                </a:tc>
                <a:tc>
                  <a:txBody>
                    <a:bodyPr/>
                    <a:lstStyle/>
                    <a:p>
                      <a:pPr>
                        <a:buNone/>
                      </a:pPr>
                      <a:r>
                        <a:rPr lang="en-US" sz="1100"/>
                        <a:t>3</a:t>
                      </a:r>
                    </a:p>
                  </a:txBody>
                  <a:tcPr marL="51435" marR="51435" marT="25718" marB="25718"/>
                </a:tc>
                <a:extLst>
                  <a:ext uri="{0D108BD9-81ED-4DB2-BD59-A6C34878D82A}">
                    <a16:rowId xmlns:a16="http://schemas.microsoft.com/office/drawing/2014/main" val="10001"/>
                  </a:ext>
                </a:extLst>
              </a:tr>
              <a:tr h="238964">
                <a:tc>
                  <a:txBody>
                    <a:bodyPr/>
                    <a:lstStyle/>
                    <a:p>
                      <a:pPr>
                        <a:buNone/>
                      </a:pPr>
                      <a:r>
                        <a:rPr lang="en-US" sz="700" b="1" dirty="0">
                          <a:sym typeface="+mn-ea"/>
                        </a:rPr>
                        <a:t>CO2</a:t>
                      </a:r>
                    </a:p>
                  </a:txBody>
                  <a:tcPr marL="51435" marR="51435" marT="25718" marB="25718"/>
                </a:tc>
                <a:tc>
                  <a:txBody>
                    <a:bodyPr/>
                    <a:lstStyle/>
                    <a:p>
                      <a:pPr>
                        <a:buNone/>
                      </a:pPr>
                      <a:r>
                        <a:rPr lang="en-US" sz="1100" b="0" dirty="0"/>
                        <a:t>Apply cryptography for security networks</a:t>
                      </a:r>
                    </a:p>
                  </a:txBody>
                  <a:tcPr marL="51435" marR="51435" marT="25718" marB="25718"/>
                </a:tc>
                <a:tc>
                  <a:txBody>
                    <a:bodyPr/>
                    <a:lstStyle/>
                    <a:p>
                      <a:pPr>
                        <a:buNone/>
                      </a:pPr>
                      <a:r>
                        <a:rPr lang="en-US" sz="1100" b="0" dirty="0"/>
                        <a:t>3</a:t>
                      </a:r>
                    </a:p>
                  </a:txBody>
                  <a:tcPr marL="51435" marR="51435" marT="25718" marB="25718"/>
                </a:tc>
                <a:tc gridSpan="2">
                  <a:txBody>
                    <a:bodyPr/>
                    <a:lstStyle/>
                    <a:p>
                      <a:pPr>
                        <a:buNone/>
                      </a:pPr>
                      <a:r>
                        <a:rPr lang="en-US" sz="1100" b="0" dirty="0"/>
                        <a:t>3</a:t>
                      </a:r>
                    </a:p>
                  </a:txBody>
                  <a:tcPr marL="51435" marR="51435" marT="25718" marB="25718"/>
                </a:tc>
                <a:tc hMerge="1">
                  <a:txBody>
                    <a:bodyPr/>
                    <a:lstStyle/>
                    <a:p>
                      <a:endParaRPr lang="en-US"/>
                    </a:p>
                  </a:txBody>
                  <a:tcPr/>
                </a:tc>
                <a:tc gridSpan="2">
                  <a:txBody>
                    <a:bodyPr/>
                    <a:lstStyle/>
                    <a:p>
                      <a:pPr>
                        <a:buNone/>
                      </a:pPr>
                      <a:r>
                        <a:rPr lang="en-US" sz="1100" b="0" dirty="0"/>
                        <a:t>3</a:t>
                      </a:r>
                    </a:p>
                  </a:txBody>
                  <a:tcPr marL="51435" marR="51435" marT="25718" marB="25718"/>
                </a:tc>
                <a:tc hMerge="1">
                  <a:txBody>
                    <a:bodyPr/>
                    <a:lstStyle/>
                    <a:p>
                      <a:endParaRPr lang="en-US"/>
                    </a:p>
                  </a:txBody>
                  <a:tcPr/>
                </a:tc>
                <a:tc gridSpan="2">
                  <a:txBody>
                    <a:bodyPr/>
                    <a:lstStyle/>
                    <a:p>
                      <a:pPr>
                        <a:buNone/>
                      </a:pPr>
                      <a:r>
                        <a:rPr lang="en-US" sz="1100" b="0" dirty="0"/>
                        <a:t>3</a:t>
                      </a:r>
                    </a:p>
                  </a:txBody>
                  <a:tcPr marL="51435" marR="51435" marT="25718" marB="25718"/>
                </a:tc>
                <a:tc hMerge="1">
                  <a:txBody>
                    <a:bodyPr/>
                    <a:lstStyle/>
                    <a:p>
                      <a:endParaRPr lang="en-US"/>
                    </a:p>
                  </a:txBody>
                  <a:tcPr/>
                </a:tc>
                <a:tc gridSpan="2">
                  <a:txBody>
                    <a:bodyPr/>
                    <a:lstStyle/>
                    <a:p>
                      <a:pPr>
                        <a:buNone/>
                      </a:pPr>
                      <a:r>
                        <a:rPr lang="en-US" sz="1100" b="0" dirty="0"/>
                        <a:t>3</a:t>
                      </a:r>
                    </a:p>
                  </a:txBody>
                  <a:tcPr marL="51435" marR="51435" marT="25718" marB="25718"/>
                </a:tc>
                <a:tc hMerge="1">
                  <a:txBody>
                    <a:bodyPr/>
                    <a:lstStyle/>
                    <a:p>
                      <a:endParaRPr lang="en-US"/>
                    </a:p>
                  </a:txBody>
                  <a:tcPr/>
                </a:tc>
                <a:tc>
                  <a:txBody>
                    <a:bodyPr/>
                    <a:lstStyle/>
                    <a:p>
                      <a:pPr>
                        <a:buNone/>
                      </a:pPr>
                      <a:r>
                        <a:rPr lang="en-US" sz="1100" b="0" dirty="0"/>
                        <a:t>3</a:t>
                      </a:r>
                    </a:p>
                  </a:txBody>
                  <a:tcPr marL="51435" marR="51435" marT="25718" marB="25718"/>
                </a:tc>
                <a:extLst>
                  <a:ext uri="{0D108BD9-81ED-4DB2-BD59-A6C34878D82A}">
                    <a16:rowId xmlns:a16="http://schemas.microsoft.com/office/drawing/2014/main" val="10002"/>
                  </a:ext>
                </a:extLst>
              </a:tr>
              <a:tr h="239486">
                <a:tc>
                  <a:txBody>
                    <a:bodyPr/>
                    <a:lstStyle/>
                    <a:p>
                      <a:pPr>
                        <a:buNone/>
                      </a:pPr>
                      <a:r>
                        <a:rPr lang="en-US" sz="700">
                          <a:sym typeface="+mn-ea"/>
                        </a:rPr>
                        <a:t>CO3</a:t>
                      </a:r>
                    </a:p>
                  </a:txBody>
                  <a:tcPr marL="51435" marR="51435" marT="25718" marB="25718"/>
                </a:tc>
                <a:tc>
                  <a:txBody>
                    <a:bodyPr/>
                    <a:lstStyle/>
                    <a:p>
                      <a:pPr>
                        <a:buNone/>
                      </a:pPr>
                      <a:r>
                        <a:rPr lang="en-US" sz="1100" b="1" dirty="0"/>
                        <a:t>Identify various cyber offences </a:t>
                      </a:r>
                    </a:p>
                  </a:txBody>
                  <a:tcPr marL="51435" marR="51435" marT="25718" marB="25718"/>
                </a:tc>
                <a:tc>
                  <a:txBody>
                    <a:bodyPr/>
                    <a:lstStyle/>
                    <a:p>
                      <a:pPr>
                        <a:buNone/>
                      </a:pPr>
                      <a:r>
                        <a:rPr lang="en-US" sz="1100" b="1" dirty="0"/>
                        <a:t>3</a:t>
                      </a:r>
                    </a:p>
                  </a:txBody>
                  <a:tcPr marL="51435" marR="51435" marT="25718" marB="25718"/>
                </a:tc>
                <a:tc gridSpan="2">
                  <a:txBody>
                    <a:bodyPr/>
                    <a:lstStyle/>
                    <a:p>
                      <a:pPr>
                        <a:buNone/>
                      </a:pPr>
                      <a:r>
                        <a:rPr lang="en-US" sz="1100" b="1" dirty="0"/>
                        <a:t>3</a:t>
                      </a:r>
                    </a:p>
                  </a:txBody>
                  <a:tcPr marL="51435" marR="51435" marT="25718" marB="25718"/>
                </a:tc>
                <a:tc hMerge="1">
                  <a:txBody>
                    <a:bodyPr/>
                    <a:lstStyle/>
                    <a:p>
                      <a:endParaRPr lang="en-US"/>
                    </a:p>
                  </a:txBody>
                  <a:tcPr/>
                </a:tc>
                <a:tc gridSpan="2">
                  <a:txBody>
                    <a:bodyPr/>
                    <a:lstStyle/>
                    <a:p>
                      <a:pPr>
                        <a:buNone/>
                      </a:pPr>
                      <a:r>
                        <a:rPr lang="en-US" sz="1100" b="1" dirty="0"/>
                        <a:t>3</a:t>
                      </a:r>
                    </a:p>
                  </a:txBody>
                  <a:tcPr marL="51435" marR="51435" marT="25718" marB="25718"/>
                </a:tc>
                <a:tc hMerge="1">
                  <a:txBody>
                    <a:bodyPr/>
                    <a:lstStyle/>
                    <a:p>
                      <a:endParaRPr lang="en-US"/>
                    </a:p>
                  </a:txBody>
                  <a:tcPr/>
                </a:tc>
                <a:tc gridSpan="2">
                  <a:txBody>
                    <a:bodyPr/>
                    <a:lstStyle/>
                    <a:p>
                      <a:pPr>
                        <a:buNone/>
                      </a:pPr>
                      <a:r>
                        <a:rPr lang="en-US" sz="1100" b="1" dirty="0"/>
                        <a:t>3</a:t>
                      </a:r>
                    </a:p>
                  </a:txBody>
                  <a:tcPr marL="51435" marR="51435" marT="25718" marB="25718"/>
                </a:tc>
                <a:tc hMerge="1">
                  <a:txBody>
                    <a:bodyPr/>
                    <a:lstStyle/>
                    <a:p>
                      <a:endParaRPr lang="en-US"/>
                    </a:p>
                  </a:txBody>
                  <a:tcPr/>
                </a:tc>
                <a:tc gridSpan="2">
                  <a:txBody>
                    <a:bodyPr/>
                    <a:lstStyle/>
                    <a:p>
                      <a:pPr>
                        <a:buNone/>
                      </a:pPr>
                      <a:r>
                        <a:rPr lang="en-US" sz="1100" b="1" dirty="0"/>
                        <a:t>3</a:t>
                      </a:r>
                    </a:p>
                  </a:txBody>
                  <a:tcPr marL="51435" marR="51435" marT="25718" marB="25718"/>
                </a:tc>
                <a:tc hMerge="1">
                  <a:txBody>
                    <a:bodyPr/>
                    <a:lstStyle/>
                    <a:p>
                      <a:endParaRPr lang="en-US"/>
                    </a:p>
                  </a:txBody>
                  <a:tcPr/>
                </a:tc>
                <a:tc>
                  <a:txBody>
                    <a:bodyPr/>
                    <a:lstStyle/>
                    <a:p>
                      <a:pPr>
                        <a:buNone/>
                      </a:pPr>
                      <a:r>
                        <a:rPr lang="en-US" sz="1100" b="1" dirty="0"/>
                        <a:t>3</a:t>
                      </a:r>
                    </a:p>
                  </a:txBody>
                  <a:tcPr marL="51435" marR="51435" marT="25718" marB="25718"/>
                </a:tc>
                <a:extLst>
                  <a:ext uri="{0D108BD9-81ED-4DB2-BD59-A6C34878D82A}">
                    <a16:rowId xmlns:a16="http://schemas.microsoft.com/office/drawing/2014/main" val="10003"/>
                  </a:ext>
                </a:extLst>
              </a:tr>
              <a:tr h="371475">
                <a:tc>
                  <a:txBody>
                    <a:bodyPr/>
                    <a:lstStyle/>
                    <a:p>
                      <a:pPr>
                        <a:buNone/>
                      </a:pPr>
                      <a:r>
                        <a:rPr lang="en-US" sz="700">
                          <a:sym typeface="+mn-ea"/>
                        </a:rPr>
                        <a:t>CO4</a:t>
                      </a:r>
                    </a:p>
                  </a:txBody>
                  <a:tcPr marL="51435" marR="51435" marT="25718" marB="25718"/>
                </a:tc>
                <a:tc>
                  <a:txBody>
                    <a:bodyPr/>
                    <a:lstStyle/>
                    <a:p>
                      <a:pPr>
                        <a:buNone/>
                      </a:pPr>
                      <a:r>
                        <a:rPr lang="en-US" sz="1100" dirty="0"/>
                        <a:t>Use standards and cyber laws to enhance cyber security</a:t>
                      </a:r>
                    </a:p>
                  </a:txBody>
                  <a:tcPr marL="51435" marR="51435" marT="25718" marB="25718"/>
                </a:tc>
                <a:tc>
                  <a:txBody>
                    <a:bodyPr/>
                    <a:lstStyle/>
                    <a:p>
                      <a:pPr>
                        <a:buNone/>
                      </a:pPr>
                      <a:r>
                        <a:rPr lang="en-US" sz="1100"/>
                        <a:t>3</a:t>
                      </a:r>
                    </a:p>
                  </a:txBody>
                  <a:tcPr marL="51435" marR="51435" marT="25718" marB="25718"/>
                </a:tc>
                <a:tc gridSpan="2">
                  <a:txBody>
                    <a:bodyPr/>
                    <a:lstStyle/>
                    <a:p>
                      <a:pPr>
                        <a:buNone/>
                      </a:pPr>
                      <a:r>
                        <a:rPr lang="en-US" sz="1100"/>
                        <a:t>3</a:t>
                      </a:r>
                    </a:p>
                  </a:txBody>
                  <a:tcPr marL="51435" marR="51435" marT="25718" marB="25718"/>
                </a:tc>
                <a:tc hMerge="1">
                  <a:txBody>
                    <a:bodyPr/>
                    <a:lstStyle/>
                    <a:p>
                      <a:endParaRPr lang="en-US"/>
                    </a:p>
                  </a:txBody>
                  <a:tcPr/>
                </a:tc>
                <a:tc gridSpan="2">
                  <a:txBody>
                    <a:bodyPr/>
                    <a:lstStyle/>
                    <a:p>
                      <a:pPr>
                        <a:buNone/>
                      </a:pPr>
                      <a:r>
                        <a:rPr lang="en-US" sz="1100"/>
                        <a:t>3</a:t>
                      </a:r>
                    </a:p>
                  </a:txBody>
                  <a:tcPr marL="51435" marR="51435" marT="25718" marB="25718"/>
                </a:tc>
                <a:tc hMerge="1">
                  <a:txBody>
                    <a:bodyPr/>
                    <a:lstStyle/>
                    <a:p>
                      <a:endParaRPr lang="en-US"/>
                    </a:p>
                  </a:txBody>
                  <a:tcPr/>
                </a:tc>
                <a:tc gridSpan="2">
                  <a:txBody>
                    <a:bodyPr/>
                    <a:lstStyle/>
                    <a:p>
                      <a:pPr>
                        <a:buNone/>
                      </a:pPr>
                      <a:r>
                        <a:rPr lang="en-US" sz="1100"/>
                        <a:t>3</a:t>
                      </a:r>
                    </a:p>
                  </a:txBody>
                  <a:tcPr marL="51435" marR="51435" marT="25718" marB="25718"/>
                </a:tc>
                <a:tc hMerge="1">
                  <a:txBody>
                    <a:bodyPr/>
                    <a:lstStyle/>
                    <a:p>
                      <a:endParaRPr lang="en-US"/>
                    </a:p>
                  </a:txBody>
                  <a:tcPr/>
                </a:tc>
                <a:tc gridSpan="2">
                  <a:txBody>
                    <a:bodyPr/>
                    <a:lstStyle/>
                    <a:p>
                      <a:pPr>
                        <a:buNone/>
                      </a:pPr>
                      <a:r>
                        <a:rPr lang="en-US" sz="1100" dirty="0"/>
                        <a:t>3</a:t>
                      </a:r>
                    </a:p>
                  </a:txBody>
                  <a:tcPr marL="51435" marR="51435" marT="25718" marB="25718"/>
                </a:tc>
                <a:tc hMerge="1">
                  <a:txBody>
                    <a:bodyPr/>
                    <a:lstStyle/>
                    <a:p>
                      <a:endParaRPr lang="en-US"/>
                    </a:p>
                  </a:txBody>
                  <a:tcPr/>
                </a:tc>
                <a:tc>
                  <a:txBody>
                    <a:bodyPr/>
                    <a:lstStyle/>
                    <a:p>
                      <a:pPr>
                        <a:buNone/>
                      </a:pPr>
                      <a:r>
                        <a:rPr lang="en-US" sz="1100"/>
                        <a:t>3</a:t>
                      </a:r>
                    </a:p>
                  </a:txBody>
                  <a:tcPr marL="51435" marR="51435" marT="25718" marB="25718"/>
                </a:tc>
                <a:extLst>
                  <a:ext uri="{0D108BD9-81ED-4DB2-BD59-A6C34878D82A}">
                    <a16:rowId xmlns:a16="http://schemas.microsoft.com/office/drawing/2014/main" val="10004"/>
                  </a:ext>
                </a:extLst>
              </a:tr>
              <a:tr h="371475">
                <a:tc>
                  <a:txBody>
                    <a:bodyPr/>
                    <a:lstStyle/>
                    <a:p>
                      <a:pPr>
                        <a:buNone/>
                      </a:pPr>
                      <a:r>
                        <a:rPr lang="en-US" sz="700"/>
                        <a:t>C05</a:t>
                      </a:r>
                    </a:p>
                  </a:txBody>
                  <a:tcPr marL="51435" marR="51435" marT="25718" marB="25718"/>
                </a:tc>
                <a:tc>
                  <a:txBody>
                    <a:bodyPr/>
                    <a:lstStyle/>
                    <a:p>
                      <a:pPr>
                        <a:buNone/>
                      </a:pPr>
                      <a:r>
                        <a:rPr lang="en-US" sz="1100" dirty="0" err="1"/>
                        <a:t>IIlustrate</a:t>
                      </a:r>
                      <a:r>
                        <a:rPr lang="en-US" sz="1100" dirty="0"/>
                        <a:t> the importance of security policies &amp; IT Act </a:t>
                      </a:r>
                    </a:p>
                  </a:txBody>
                  <a:tcPr marL="51435" marR="51435" marT="25718" marB="25718"/>
                </a:tc>
                <a:tc>
                  <a:txBody>
                    <a:bodyPr/>
                    <a:lstStyle/>
                    <a:p>
                      <a:pPr>
                        <a:buNone/>
                      </a:pPr>
                      <a:r>
                        <a:rPr lang="en-US" sz="1100"/>
                        <a:t>3</a:t>
                      </a:r>
                    </a:p>
                  </a:txBody>
                  <a:tcPr marL="51435" marR="51435" marT="25718" marB="25718"/>
                </a:tc>
                <a:tc gridSpan="2">
                  <a:txBody>
                    <a:bodyPr/>
                    <a:lstStyle/>
                    <a:p>
                      <a:pPr>
                        <a:buNone/>
                      </a:pPr>
                      <a:r>
                        <a:rPr lang="en-US" sz="1100"/>
                        <a:t>3</a:t>
                      </a:r>
                    </a:p>
                  </a:txBody>
                  <a:tcPr marL="51435" marR="51435" marT="25718" marB="25718"/>
                </a:tc>
                <a:tc hMerge="1">
                  <a:txBody>
                    <a:bodyPr/>
                    <a:lstStyle/>
                    <a:p>
                      <a:endParaRPr lang="en-US"/>
                    </a:p>
                  </a:txBody>
                  <a:tcPr/>
                </a:tc>
                <a:tc gridSpan="2">
                  <a:txBody>
                    <a:bodyPr/>
                    <a:lstStyle/>
                    <a:p>
                      <a:pPr>
                        <a:buNone/>
                      </a:pPr>
                      <a:r>
                        <a:rPr lang="en-US" sz="1100"/>
                        <a:t>3</a:t>
                      </a:r>
                    </a:p>
                  </a:txBody>
                  <a:tcPr marL="51435" marR="51435" marT="25718" marB="25718"/>
                </a:tc>
                <a:tc hMerge="1">
                  <a:txBody>
                    <a:bodyPr/>
                    <a:lstStyle/>
                    <a:p>
                      <a:endParaRPr lang="en-US"/>
                    </a:p>
                  </a:txBody>
                  <a:tcPr/>
                </a:tc>
                <a:tc gridSpan="2">
                  <a:txBody>
                    <a:bodyPr/>
                    <a:lstStyle/>
                    <a:p>
                      <a:pPr>
                        <a:buNone/>
                      </a:pPr>
                      <a:r>
                        <a:rPr lang="en-US" sz="1100"/>
                        <a:t>3</a:t>
                      </a:r>
                    </a:p>
                  </a:txBody>
                  <a:tcPr marL="51435" marR="51435" marT="25718" marB="25718"/>
                </a:tc>
                <a:tc hMerge="1">
                  <a:txBody>
                    <a:bodyPr/>
                    <a:lstStyle/>
                    <a:p>
                      <a:endParaRPr lang="en-US"/>
                    </a:p>
                  </a:txBody>
                  <a:tcPr/>
                </a:tc>
                <a:tc gridSpan="2">
                  <a:txBody>
                    <a:bodyPr/>
                    <a:lstStyle/>
                    <a:p>
                      <a:pPr>
                        <a:buNone/>
                      </a:pPr>
                      <a:r>
                        <a:rPr lang="en-US" sz="1100" dirty="0"/>
                        <a:t>3</a:t>
                      </a:r>
                    </a:p>
                  </a:txBody>
                  <a:tcPr marL="51435" marR="51435" marT="25718" marB="25718"/>
                </a:tc>
                <a:tc hMerge="1">
                  <a:txBody>
                    <a:bodyPr/>
                    <a:lstStyle/>
                    <a:p>
                      <a:endParaRPr lang="en-US"/>
                    </a:p>
                  </a:txBody>
                  <a:tcPr/>
                </a:tc>
                <a:tc>
                  <a:txBody>
                    <a:bodyPr/>
                    <a:lstStyle/>
                    <a:p>
                      <a:pPr>
                        <a:buNone/>
                      </a:pPr>
                      <a:r>
                        <a:rPr lang="en-US" sz="1100" dirty="0"/>
                        <a:t>3</a:t>
                      </a:r>
                    </a:p>
                  </a:txBody>
                  <a:tcPr marL="51435" marR="51435" marT="25718" marB="25718"/>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39207" y="642938"/>
            <a:ext cx="5711135" cy="3913533"/>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UNIT-III</a:t>
            </a:r>
            <a:br>
              <a:rPr lang="en" dirty="0"/>
            </a:br>
            <a:r>
              <a:rPr lang="en" dirty="0"/>
              <a:t>Cyber Offences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0" name="Google Shape;60;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Understand different types of cyber attacks</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Overview of the steps in planning cybercrime</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Understand tools used for gathering information about the target. etc</a:t>
            </a:r>
            <a:endParaRPr sz="1600" b="1">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Hackers :</a:t>
            </a:r>
            <a:endParaRPr sz="1600" b="1">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 Very talented, smart people who understand computers better than others</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Hackers enjoy to learn and experimenting with the computers</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Crackers :</a:t>
            </a:r>
            <a:endParaRPr sz="1600" b="1">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 “Breaks into computers”</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Phreakers :</a:t>
            </a:r>
            <a:endParaRPr sz="1600" b="1">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Breaks into phone lines.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203050"/>
            <a:ext cx="8520600" cy="3416400"/>
          </a:xfrm>
          <a:prstGeom prst="rect">
            <a:avLst/>
          </a:prstGeom>
        </p:spPr>
        <p:txBody>
          <a:bodyPr spcFirstLastPara="1" wrap="square" lIns="91425" tIns="91425" rIns="91425" bIns="91425" anchor="t" anchorCtr="0">
            <a:normAutofit/>
          </a:bodyPr>
          <a:lstStyle/>
          <a:p>
            <a:pPr marL="457200" lvl="0" indent="0" algn="just" rtl="0">
              <a:lnSpc>
                <a:spcPct val="100000"/>
              </a:lnSpc>
              <a:spcBef>
                <a:spcPts val="0"/>
              </a:spcBef>
              <a:spcAft>
                <a:spcPts val="0"/>
              </a:spcAft>
              <a:buClr>
                <a:schemeClr val="dk1"/>
              </a:buClr>
              <a:buSzPts val="1100"/>
              <a:buFont typeface="Arial"/>
              <a:buNone/>
            </a:pPr>
            <a:r>
              <a:rPr lang="en" sz="1900" b="1">
                <a:solidFill>
                  <a:schemeClr val="dk1"/>
                </a:solidFill>
                <a:latin typeface="Times New Roman"/>
                <a:ea typeface="Times New Roman"/>
                <a:cs typeface="Times New Roman"/>
                <a:sym typeface="Times New Roman"/>
              </a:rPr>
              <a:t>Categories of Vulnerabilities</a:t>
            </a:r>
            <a:endParaRPr sz="1900" b="1">
              <a:solidFill>
                <a:schemeClr val="dk1"/>
              </a:solidFill>
              <a:latin typeface="Times New Roman"/>
              <a:ea typeface="Times New Roman"/>
              <a:cs typeface="Times New Roman"/>
              <a:sym typeface="Times New Roman"/>
            </a:endParaRPr>
          </a:p>
          <a:p>
            <a:pPr marL="457200" lvl="0"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Inadequate border protection</a:t>
            </a:r>
            <a:endParaRPr sz="1900">
              <a:solidFill>
                <a:schemeClr val="dk1"/>
              </a:solidFill>
              <a:latin typeface="Times New Roman"/>
              <a:ea typeface="Times New Roman"/>
              <a:cs typeface="Times New Roman"/>
              <a:sym typeface="Times New Roman"/>
            </a:endParaRPr>
          </a:p>
          <a:p>
            <a:pPr marL="457200" lvl="0"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Remote access servers (RAS) with weak access controls.</a:t>
            </a:r>
            <a:endParaRPr sz="1900">
              <a:solidFill>
                <a:schemeClr val="dk1"/>
              </a:solidFill>
              <a:latin typeface="Times New Roman"/>
              <a:ea typeface="Times New Roman"/>
              <a:cs typeface="Times New Roman"/>
              <a:sym typeface="Times New Roman"/>
            </a:endParaRPr>
          </a:p>
          <a:p>
            <a:pPr marL="457200" lvl="0"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Application servers with well known exploits</a:t>
            </a:r>
            <a:endParaRPr sz="1900">
              <a:solidFill>
                <a:schemeClr val="dk1"/>
              </a:solidFill>
              <a:latin typeface="Times New Roman"/>
              <a:ea typeface="Times New Roman"/>
              <a:cs typeface="Times New Roman"/>
              <a:sym typeface="Times New Roman"/>
            </a:endParaRPr>
          </a:p>
          <a:p>
            <a:pPr marL="457200" lvl="0"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Misconfigured systems and systems with default configuration. </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311700" y="247200"/>
            <a:ext cx="8520600" cy="57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Clr>
                <a:schemeClr val="dk1"/>
              </a:buClr>
              <a:buSzPts val="1100"/>
              <a:buFont typeface="Arial"/>
              <a:buNone/>
            </a:pPr>
            <a:r>
              <a:rPr lang="en" sz="2000" b="1">
                <a:latin typeface="Times New Roman"/>
                <a:ea typeface="Times New Roman"/>
                <a:cs typeface="Times New Roman"/>
                <a:sym typeface="Times New Roman"/>
              </a:rPr>
              <a:t>How Criminals plan the attack?</a:t>
            </a:r>
            <a:endParaRPr sz="3600"/>
          </a:p>
        </p:txBody>
      </p:sp>
      <p:sp>
        <p:nvSpPr>
          <p:cNvPr id="71" name="Google Shape;71;p16"/>
          <p:cNvSpPr txBox="1">
            <a:spLocks noGrp="1"/>
          </p:cNvSpPr>
          <p:nvPr>
            <p:ph type="body" idx="1"/>
          </p:nvPr>
        </p:nvSpPr>
        <p:spPr>
          <a:xfrm>
            <a:off x="311700" y="696950"/>
            <a:ext cx="8520600" cy="3416400"/>
          </a:xfrm>
          <a:prstGeom prst="rect">
            <a:avLst/>
          </a:prstGeom>
        </p:spPr>
        <p:txBody>
          <a:bodyPr spcFirstLastPara="1" wrap="square" lIns="91425" tIns="91425" rIns="91425" bIns="91425" anchor="t" anchorCtr="0">
            <a:noAutofit/>
          </a:bodyPr>
          <a:lstStyle/>
          <a:p>
            <a:pPr marL="457200" lvl="0"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Criminals use many methods and tools to identify vulnerabilities of their target.</a:t>
            </a:r>
            <a:endParaRPr sz="1600">
              <a:solidFill>
                <a:schemeClr val="dk1"/>
              </a:solidFill>
              <a:latin typeface="Times New Roman"/>
              <a:ea typeface="Times New Roman"/>
              <a:cs typeface="Times New Roman"/>
              <a:sym typeface="Times New Roman"/>
            </a:endParaRPr>
          </a:p>
          <a:p>
            <a:pPr marL="457200" lvl="0"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Criminals plan attacks were categorised into</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Active</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Passive</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Inside</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Outside</a:t>
            </a:r>
            <a:endParaRPr sz="1600">
              <a:solidFill>
                <a:schemeClr val="dk1"/>
              </a:solidFill>
              <a:latin typeface="Times New Roman"/>
              <a:ea typeface="Times New Roman"/>
              <a:cs typeface="Times New Roman"/>
              <a:sym typeface="Times New Roman"/>
            </a:endParaRPr>
          </a:p>
          <a:p>
            <a:pPr marL="457200" lvl="0" indent="-330200" algn="just" rtl="0">
              <a:lnSpc>
                <a:spcPct val="9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Active Attacks: </a:t>
            </a:r>
            <a:endParaRPr sz="1600" b="1">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Def: To alter the system</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Affects: Availability, Integrity and authenticity of data.</a:t>
            </a:r>
            <a:endParaRPr sz="1600">
              <a:solidFill>
                <a:schemeClr val="dk1"/>
              </a:solidFill>
              <a:latin typeface="Times New Roman"/>
              <a:ea typeface="Times New Roman"/>
              <a:cs typeface="Times New Roman"/>
              <a:sym typeface="Times New Roman"/>
            </a:endParaRPr>
          </a:p>
          <a:p>
            <a:pPr marL="457200" lvl="0" indent="-330200" algn="just" rtl="0">
              <a:lnSpc>
                <a:spcPct val="9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Passive Attacks:</a:t>
            </a:r>
            <a:endParaRPr sz="1600" b="1">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Def: To gain information about the target.</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Affects: Confidentiality</a:t>
            </a:r>
            <a:endParaRPr sz="1600">
              <a:solidFill>
                <a:schemeClr val="dk1"/>
              </a:solidFill>
              <a:latin typeface="Times New Roman"/>
              <a:ea typeface="Times New Roman"/>
              <a:cs typeface="Times New Roman"/>
              <a:sym typeface="Times New Roman"/>
            </a:endParaRPr>
          </a:p>
          <a:p>
            <a:pPr marL="457200" lvl="0" indent="-330200" algn="just" rtl="0">
              <a:lnSpc>
                <a:spcPct val="9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Inside Attack : </a:t>
            </a:r>
            <a:endParaRPr sz="1600" b="1">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Def: Attempted within the security perimeter of an organisation.</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Affects: Access more resources than expected. </a:t>
            </a:r>
            <a:endParaRPr sz="1600">
              <a:solidFill>
                <a:schemeClr val="dk1"/>
              </a:solidFill>
              <a:latin typeface="Times New Roman"/>
              <a:ea typeface="Times New Roman"/>
              <a:cs typeface="Times New Roman"/>
              <a:sym typeface="Times New Roman"/>
            </a:endParaRPr>
          </a:p>
          <a:p>
            <a:pPr marL="457200" lvl="0" indent="-330200" algn="just" rtl="0">
              <a:lnSpc>
                <a:spcPct val="90000"/>
              </a:lnSpc>
              <a:spcBef>
                <a:spcPts val="0"/>
              </a:spcBef>
              <a:spcAft>
                <a:spcPts val="0"/>
              </a:spcAft>
              <a:buClr>
                <a:schemeClr val="dk1"/>
              </a:buClr>
              <a:buSzPts val="1600"/>
              <a:buFont typeface="Times New Roman"/>
              <a:buChar char="•"/>
            </a:pPr>
            <a:r>
              <a:rPr lang="en" sz="1600" b="1">
                <a:solidFill>
                  <a:schemeClr val="dk1"/>
                </a:solidFill>
                <a:latin typeface="Times New Roman"/>
                <a:ea typeface="Times New Roman"/>
                <a:cs typeface="Times New Roman"/>
                <a:sym typeface="Times New Roman"/>
              </a:rPr>
              <a:t>Outside attack:</a:t>
            </a:r>
            <a:endParaRPr sz="1600" b="1">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Def: Attempted by a source outside the security perimeter (insider/outsider) who is indirectly  associated with the organisation.</a:t>
            </a:r>
            <a:endParaRPr sz="1600">
              <a:solidFill>
                <a:schemeClr val="dk1"/>
              </a:solidFill>
              <a:latin typeface="Times New Roman"/>
              <a:ea typeface="Times New Roman"/>
              <a:cs typeface="Times New Roman"/>
              <a:sym typeface="Times New Roman"/>
            </a:endParaRPr>
          </a:p>
          <a:p>
            <a:pPr marL="914400" lvl="1" indent="-330200" algn="just" rtl="0">
              <a:lnSpc>
                <a:spcPct val="9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Sources: Either from internet or a remote access connection.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body" idx="1"/>
          </p:nvPr>
        </p:nvSpPr>
        <p:spPr>
          <a:xfrm>
            <a:off x="103050" y="130025"/>
            <a:ext cx="8874000" cy="4873200"/>
          </a:xfrm>
          <a:prstGeom prst="rect">
            <a:avLst/>
          </a:prstGeom>
        </p:spPr>
        <p:txBody>
          <a:bodyPr spcFirstLastPara="1" wrap="square" lIns="91425" tIns="91425" rIns="91425" bIns="91425" anchor="t" anchorCtr="0">
            <a:normAutofit/>
          </a:bodyPr>
          <a:lstStyle/>
          <a:p>
            <a:pPr marL="0" lvl="0" indent="0" algn="just" rtl="0">
              <a:lnSpc>
                <a:spcPct val="100000"/>
              </a:lnSpc>
              <a:spcBef>
                <a:spcPts val="0"/>
              </a:spcBef>
              <a:spcAft>
                <a:spcPts val="0"/>
              </a:spcAft>
              <a:buClr>
                <a:schemeClr val="dk1"/>
              </a:buClr>
              <a:buSzPts val="1100"/>
              <a:buFont typeface="Arial"/>
              <a:buNone/>
            </a:pPr>
            <a:r>
              <a:rPr lang="en" sz="1700" b="1">
                <a:solidFill>
                  <a:schemeClr val="dk1"/>
                </a:solidFill>
                <a:latin typeface="Times New Roman"/>
                <a:ea typeface="Times New Roman"/>
                <a:cs typeface="Times New Roman"/>
                <a:sym typeface="Times New Roman"/>
              </a:rPr>
              <a:t>Phases to plan cyber crime</a:t>
            </a:r>
            <a:endParaRPr sz="1700" b="1">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Information gathering. (passive attack)</a:t>
            </a:r>
            <a:endParaRPr sz="170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Reconnaissance  : To gain information about an enemy .</a:t>
            </a:r>
            <a:endParaRPr sz="170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Starts with Foot printing.</a:t>
            </a:r>
            <a:endParaRPr sz="170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Scanning and scrutinizing the information.</a:t>
            </a:r>
            <a:endParaRPr sz="170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For the validity of the information.</a:t>
            </a:r>
            <a:endParaRPr sz="170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To identify the existing vulnerabilities.</a:t>
            </a:r>
            <a:endParaRPr sz="170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Launching an attack</a:t>
            </a:r>
            <a:endParaRPr sz="170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Gaining and maintaining the system access.</a:t>
            </a:r>
            <a:endParaRPr sz="170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sz="2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8"/>
          <p:cNvSpPr txBox="1">
            <a:spLocks noGrp="1"/>
          </p:cNvSpPr>
          <p:nvPr>
            <p:ph type="body" idx="1"/>
          </p:nvPr>
        </p:nvSpPr>
        <p:spPr>
          <a:xfrm>
            <a:off x="0" y="0"/>
            <a:ext cx="9144000" cy="5143500"/>
          </a:xfrm>
          <a:prstGeom prst="rect">
            <a:avLst/>
          </a:prstGeom>
        </p:spPr>
        <p:txBody>
          <a:bodyPr spcFirstLastPara="1" wrap="square" lIns="91425" tIns="91425" rIns="91425" bIns="91425" anchor="t" anchorCtr="0">
            <a:noAutofit/>
          </a:bodyPr>
          <a:lstStyle/>
          <a:p>
            <a:pPr marL="0" lvl="0" indent="0" algn="just" rtl="0">
              <a:lnSpc>
                <a:spcPct val="90000"/>
              </a:lnSpc>
              <a:spcBef>
                <a:spcPts val="0"/>
              </a:spcBef>
              <a:spcAft>
                <a:spcPts val="0"/>
              </a:spcAft>
              <a:buClr>
                <a:schemeClr val="dk1"/>
              </a:buClr>
              <a:buSzPts val="852"/>
              <a:buFont typeface="Arial"/>
              <a:buNone/>
            </a:pPr>
            <a:r>
              <a:rPr lang="en" sz="1300" b="1" dirty="0">
                <a:solidFill>
                  <a:schemeClr val="dk1"/>
                </a:solidFill>
                <a:latin typeface="Times New Roman"/>
                <a:ea typeface="Times New Roman"/>
                <a:cs typeface="Times New Roman"/>
                <a:sym typeface="Times New Roman"/>
              </a:rPr>
              <a:t>Passive Attack</a:t>
            </a:r>
            <a:endParaRPr sz="1300" b="1"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Information gathering about a target without their knowledge.</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Ex: Watching a building to identify employees entering time</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is done using internet search or googling to gain individual or company information. </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Google or Yahoo search to locate information about employees.</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Tools: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GOOGLE EARTH: It is a virtual map of globe and </a:t>
            </a:r>
            <a:r>
              <a:rPr lang="en" sz="1300" dirty="0">
                <a:solidFill>
                  <a:schemeClr val="dk1"/>
                </a:solidFill>
                <a:latin typeface="Times New Roman"/>
                <a:ea typeface="Times New Roman"/>
                <a:cs typeface="Times New Roman"/>
                <a:sym typeface="Times New Roman"/>
              </a:rPr>
              <a:t>geographic information program. It maps the earth by the superimposition of images obtained from satellite imagery and provides aerial photography of the globe</a:t>
            </a:r>
            <a:endParaRPr sz="1300" dirty="0">
              <a:solidFill>
                <a:schemeClr val="dk1"/>
              </a:solidFill>
              <a:latin typeface="Times New Roman"/>
              <a:ea typeface="Times New Roman"/>
              <a:cs typeface="Times New Roman"/>
              <a:sym typeface="Times New Roman"/>
            </a:endParaRPr>
          </a:p>
          <a:p>
            <a:pPr marL="457200" lvl="0" indent="0" algn="just" rtl="0">
              <a:lnSpc>
                <a:spcPct val="90000"/>
              </a:lnSpc>
              <a:spcBef>
                <a:spcPts val="0"/>
              </a:spcBef>
              <a:spcAft>
                <a:spcPts val="0"/>
              </a:spcAft>
              <a:buClr>
                <a:schemeClr val="dk1"/>
              </a:buClr>
              <a:buSzPts val="852"/>
              <a:buFont typeface="Arial"/>
              <a:buNone/>
            </a:pPr>
            <a:r>
              <a:rPr lang="en" sz="1300" dirty="0">
                <a:solidFill>
                  <a:schemeClr val="dk1"/>
                </a:solidFill>
                <a:latin typeface="Times New Roman"/>
                <a:ea typeface="Times New Roman"/>
                <a:cs typeface="Times New Roman"/>
                <a:sym typeface="Times New Roman"/>
              </a:rPr>
              <a:t>     Ex: (www.earth.google.com).</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INTERNET ARCHIVE: The internet archive is an internet </a:t>
            </a:r>
            <a:r>
              <a:rPr lang="en" sz="1300" dirty="0">
                <a:solidFill>
                  <a:schemeClr val="dk1"/>
                </a:solidFill>
                <a:latin typeface="Times New Roman"/>
                <a:ea typeface="Times New Roman"/>
                <a:cs typeface="Times New Roman"/>
                <a:sym typeface="Times New Roman"/>
              </a:rPr>
              <a:t>library with the purpose of offering permanent access for researchers, historians and scholars to historical collections that exist in digital format (Ramot </a:t>
            </a:r>
            <a:r>
              <a:rPr lang="en" sz="1300" i="1" dirty="0">
                <a:solidFill>
                  <a:schemeClr val="dk1"/>
                </a:solidFill>
                <a:latin typeface="Times New Roman"/>
                <a:ea typeface="Times New Roman"/>
                <a:cs typeface="Times New Roman"/>
                <a:sym typeface="Times New Roman"/>
              </a:rPr>
              <a:t>et al., </a:t>
            </a:r>
            <a:r>
              <a:rPr lang="en" sz="1300" dirty="0">
                <a:solidFill>
                  <a:schemeClr val="dk1"/>
                </a:solidFill>
                <a:latin typeface="Times New Roman"/>
                <a:ea typeface="Times New Roman"/>
                <a:cs typeface="Times New Roman"/>
                <a:sym typeface="Times New Roman"/>
              </a:rPr>
              <a:t>2003). It includes texts, Audio moving images and software as well as archived web pages in our collections. </a:t>
            </a:r>
            <a:endParaRPr sz="1300" dirty="0">
              <a:solidFill>
                <a:schemeClr val="dk1"/>
              </a:solidFill>
              <a:latin typeface="Times New Roman"/>
              <a:ea typeface="Times New Roman"/>
              <a:cs typeface="Times New Roman"/>
              <a:sym typeface="Times New Roman"/>
            </a:endParaRPr>
          </a:p>
          <a:p>
            <a:pPr marL="457200" lvl="0" indent="0" algn="just" rtl="0">
              <a:lnSpc>
                <a:spcPct val="90000"/>
              </a:lnSpc>
              <a:spcBef>
                <a:spcPts val="0"/>
              </a:spcBef>
              <a:spcAft>
                <a:spcPts val="0"/>
              </a:spcAft>
              <a:buClr>
                <a:schemeClr val="dk1"/>
              </a:buClr>
              <a:buSzPts val="852"/>
              <a:buFont typeface="Arial"/>
              <a:buNone/>
            </a:pPr>
            <a:r>
              <a:rPr lang="en" sz="1300" dirty="0">
                <a:solidFill>
                  <a:schemeClr val="dk1"/>
                </a:solidFill>
                <a:latin typeface="Times New Roman"/>
                <a:ea typeface="Times New Roman"/>
                <a:cs typeface="Times New Roman"/>
                <a:sym typeface="Times New Roman"/>
              </a:rPr>
              <a:t>     Ex: (www.archiv.org).</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PEOPLE SEARCH: People search provides details </a:t>
            </a:r>
            <a:r>
              <a:rPr lang="en" sz="1300" dirty="0">
                <a:solidFill>
                  <a:schemeClr val="dk1"/>
                </a:solidFill>
                <a:latin typeface="Times New Roman"/>
                <a:ea typeface="Times New Roman"/>
                <a:cs typeface="Times New Roman"/>
                <a:sym typeface="Times New Roman"/>
              </a:rPr>
              <a:t>about personal information, date of birth, residential address, contact number etc. Ex: (www.whitepagesinc.com).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DOMAIN NAME CONFIRMATION: To perform searches </a:t>
            </a:r>
            <a:r>
              <a:rPr lang="en" sz="1300" dirty="0">
                <a:solidFill>
                  <a:schemeClr val="dk1"/>
                </a:solidFill>
                <a:latin typeface="Times New Roman"/>
                <a:ea typeface="Times New Roman"/>
                <a:cs typeface="Times New Roman"/>
                <a:sym typeface="Times New Roman"/>
              </a:rPr>
              <a:t>for domain names using multiple keywords, this helps to find every registered domain name in “com”, “net”, “org”, “edu” (</a:t>
            </a:r>
            <a:r>
              <a:rPr lang="en" sz="1300" u="sng" dirty="0">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www.namedroppers.com</a:t>
            </a:r>
            <a:r>
              <a:rPr lang="en" sz="1300" dirty="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WHOIS: This is a domain registration lookup tool. </a:t>
            </a:r>
            <a:r>
              <a:rPr lang="en" sz="1300" dirty="0">
                <a:solidFill>
                  <a:schemeClr val="dk1"/>
                </a:solidFill>
                <a:latin typeface="Times New Roman"/>
                <a:ea typeface="Times New Roman"/>
                <a:cs typeface="Times New Roman"/>
                <a:sym typeface="Times New Roman"/>
              </a:rPr>
              <a:t>This utility is used for communicating with WHOIS servers located around the world to obtain domain registration information. WHOIS supports IP address queries and automatically selects the appropriate server for IP address. This tool will lookup information on a domain IP address or a domain registration server or you can use the default option which will select a server for  you (</a:t>
            </a:r>
            <a:r>
              <a:rPr lang="en" sz="1300" u="sng"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www.whois.net</a:t>
            </a:r>
            <a:r>
              <a:rPr lang="en" sz="1300" dirty="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NSLOOKUP: The name nslookup means “name server </a:t>
            </a:r>
            <a:r>
              <a:rPr lang="en" sz="1300" dirty="0">
                <a:solidFill>
                  <a:schemeClr val="dk1"/>
                </a:solidFill>
                <a:latin typeface="Times New Roman"/>
                <a:ea typeface="Times New Roman"/>
                <a:cs typeface="Times New Roman"/>
                <a:sym typeface="Times New Roman"/>
              </a:rPr>
              <a:t>lookup”, the tool is used on windows and Unix to query details, including up addresses of a particular computer and other technical details such as mail exchanger records for a domain and name severs of a domain (</a:t>
            </a:r>
            <a:r>
              <a:rPr lang="en" sz="1300" u="sng" dirty="0">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www.nslookup.downloadsoftware4free.com</a:t>
            </a:r>
            <a:r>
              <a:rPr lang="en" sz="1300" dirty="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eMailTrackerPro: eMailTrackerPro analyzes the E-mail </a:t>
            </a:r>
            <a:r>
              <a:rPr lang="en" sz="1300" dirty="0">
                <a:solidFill>
                  <a:schemeClr val="dk1"/>
                </a:solidFill>
                <a:latin typeface="Times New Roman"/>
                <a:ea typeface="Times New Roman"/>
                <a:cs typeface="Times New Roman"/>
                <a:sym typeface="Times New Roman"/>
              </a:rPr>
              <a:t>header and provides the IP address of the system that send the mail (</a:t>
            </a:r>
            <a:r>
              <a:rPr lang="en" sz="1300" u="sng" dirty="0">
                <a:solidFill>
                  <a:schemeClr val="dk1"/>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www.emailtrackerpro.com</a:t>
            </a:r>
            <a:r>
              <a:rPr lang="en" sz="1300" dirty="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i="1" dirty="0">
                <a:solidFill>
                  <a:schemeClr val="dk1"/>
                </a:solidFill>
                <a:latin typeface="Times New Roman"/>
                <a:ea typeface="Times New Roman"/>
                <a:cs typeface="Times New Roman"/>
                <a:sym typeface="Times New Roman"/>
              </a:rPr>
              <a:t>HTTrack: This tool acts like an offline browser. It can </a:t>
            </a:r>
            <a:r>
              <a:rPr lang="en" sz="1300" dirty="0">
                <a:solidFill>
                  <a:schemeClr val="dk1"/>
                </a:solidFill>
                <a:latin typeface="Times New Roman"/>
                <a:ea typeface="Times New Roman"/>
                <a:cs typeface="Times New Roman"/>
                <a:sym typeface="Times New Roman"/>
              </a:rPr>
              <a:t>mirror the entire website to a desktop. One can analyze the entire websites by being offline (www.httrack.com). </a:t>
            </a:r>
            <a:endParaRPr sz="1300" dirty="0">
              <a:solidFill>
                <a:schemeClr val="dk1"/>
              </a:solidFill>
              <a:latin typeface="Times New Roman"/>
              <a:ea typeface="Times New Roman"/>
              <a:cs typeface="Times New Roman"/>
              <a:sym typeface="Times New Roman"/>
            </a:endParaRPr>
          </a:p>
          <a:p>
            <a:pPr marL="0" lvl="0" indent="0" algn="l" rtl="0">
              <a:lnSpc>
                <a:spcPct val="105000"/>
              </a:lnSpc>
              <a:spcBef>
                <a:spcPts val="0"/>
              </a:spcBef>
              <a:spcAft>
                <a:spcPts val="1200"/>
              </a:spcAft>
              <a:buSzPts val="852"/>
              <a:buNone/>
            </a:pPr>
            <a:endParaRPr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9"/>
          <p:cNvSpPr txBox="1">
            <a:spLocks noGrp="1"/>
          </p:cNvSpPr>
          <p:nvPr>
            <p:ph type="body" idx="1"/>
          </p:nvPr>
        </p:nvSpPr>
        <p:spPr>
          <a:xfrm>
            <a:off x="92250" y="0"/>
            <a:ext cx="8935800" cy="4979100"/>
          </a:xfrm>
          <a:prstGeom prst="rect">
            <a:avLst/>
          </a:prstGeom>
        </p:spPr>
        <p:txBody>
          <a:bodyPr spcFirstLastPara="1" wrap="square" lIns="91425" tIns="91425" rIns="91425" bIns="91425" anchor="t" anchorCtr="0">
            <a:noAutofit/>
          </a:bodyPr>
          <a:lstStyle/>
          <a:p>
            <a:pPr marL="0" lvl="0" indent="0" algn="just" rtl="0">
              <a:lnSpc>
                <a:spcPct val="90000"/>
              </a:lnSpc>
              <a:spcBef>
                <a:spcPts val="0"/>
              </a:spcBef>
              <a:spcAft>
                <a:spcPts val="0"/>
              </a:spcAft>
              <a:buClr>
                <a:schemeClr val="dk1"/>
              </a:buClr>
              <a:buSzPts val="1100"/>
              <a:buFont typeface="Arial"/>
              <a:buNone/>
            </a:pPr>
            <a:r>
              <a:rPr lang="en" sz="1300" b="1" dirty="0">
                <a:solidFill>
                  <a:schemeClr val="dk1"/>
                </a:solidFill>
                <a:latin typeface="Times New Roman"/>
                <a:ea typeface="Times New Roman"/>
                <a:cs typeface="Times New Roman"/>
                <a:sym typeface="Times New Roman"/>
              </a:rPr>
              <a:t>Active Attacks</a:t>
            </a:r>
            <a:endParaRPr sz="1300" b="1"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ARPING: This is a network tool that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Broadcasts arp packets and receive replies similar to “ping”.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is good for mapping a local network and finding used IP space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broadcasts, who has an arp packet on the network and prints answers.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is very useful when trying to pick an unused IP for a net to which routing does not exist as yet</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Bing: This tool is used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for pinging the bandwidth.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is one of the point-to-point bandwidth measurement tool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can calculate the blank throughput between any couple of networks. (htttp:ai3.asti.dost.gov.ph/sat/bing.html). </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is also called “Rattling the doorknobs” or “Active reconnaissance”</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can provide confirmation to an attacker about security measures in place .</a:t>
            </a:r>
            <a:endParaRPr sz="1300" dirty="0">
              <a:solidFill>
                <a:schemeClr val="dk1"/>
              </a:solidFill>
              <a:latin typeface="Times New Roman"/>
              <a:ea typeface="Times New Roman"/>
              <a:cs typeface="Times New Roman"/>
              <a:sym typeface="Times New Roman"/>
            </a:endParaRPr>
          </a:p>
          <a:p>
            <a:pPr marL="457200" lvl="0" indent="0" algn="just" rtl="0">
              <a:lnSpc>
                <a:spcPct val="90000"/>
              </a:lnSpc>
              <a:spcBef>
                <a:spcPts val="0"/>
              </a:spcBef>
              <a:spcAft>
                <a:spcPts val="0"/>
              </a:spcAft>
              <a:buClr>
                <a:schemeClr val="dk1"/>
              </a:buClr>
              <a:buSzPts val="1100"/>
              <a:buFont typeface="Arial"/>
              <a:buNone/>
            </a:pPr>
            <a:endParaRPr sz="1300" dirty="0">
              <a:solidFill>
                <a:schemeClr val="dk1"/>
              </a:solidFill>
              <a:latin typeface="Times New Roman"/>
              <a:ea typeface="Times New Roman"/>
              <a:cs typeface="Times New Roman"/>
              <a:sym typeface="Times New Roman"/>
            </a:endParaRPr>
          </a:p>
          <a:p>
            <a:pPr marL="0" lvl="0" indent="0" algn="just" rtl="0">
              <a:lnSpc>
                <a:spcPct val="90000"/>
              </a:lnSpc>
              <a:spcBef>
                <a:spcPts val="0"/>
              </a:spcBef>
              <a:spcAft>
                <a:spcPts val="0"/>
              </a:spcAft>
              <a:buClr>
                <a:schemeClr val="dk1"/>
              </a:buClr>
              <a:buSzPts val="1100"/>
              <a:buFont typeface="Arial"/>
              <a:buNone/>
            </a:pPr>
            <a:r>
              <a:rPr lang="en" sz="1300" b="1" dirty="0">
                <a:solidFill>
                  <a:schemeClr val="dk1"/>
                </a:solidFill>
                <a:latin typeface="Times New Roman"/>
                <a:ea typeface="Times New Roman"/>
                <a:cs typeface="Times New Roman"/>
                <a:sym typeface="Times New Roman"/>
              </a:rPr>
              <a:t>Tools:</a:t>
            </a:r>
            <a:endParaRPr sz="1300" b="1"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b="1" dirty="0">
                <a:solidFill>
                  <a:schemeClr val="dk1"/>
                </a:solidFill>
                <a:latin typeface="Times New Roman"/>
                <a:ea typeface="Times New Roman"/>
                <a:cs typeface="Times New Roman"/>
                <a:sym typeface="Times New Roman"/>
              </a:rPr>
              <a:t>Dsniff</a:t>
            </a:r>
            <a:r>
              <a:rPr lang="en" sz="1300" dirty="0">
                <a:solidFill>
                  <a:schemeClr val="dk1"/>
                </a:solidFill>
                <a:latin typeface="Times New Roman"/>
                <a:ea typeface="Times New Roman"/>
                <a:cs typeface="Times New Roman"/>
                <a:sym typeface="Times New Roman"/>
              </a:rPr>
              <a:t> : This is network auditing tool to capture username, password and authentication information on a local subnet. </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b="1" dirty="0">
                <a:solidFill>
                  <a:schemeClr val="dk1"/>
                </a:solidFill>
                <a:latin typeface="Times New Roman"/>
                <a:ea typeface="Times New Roman"/>
                <a:cs typeface="Times New Roman"/>
                <a:sym typeface="Times New Roman"/>
              </a:rPr>
              <a:t>DNStracer</a:t>
            </a:r>
            <a:r>
              <a:rPr lang="en" sz="1300" dirty="0">
                <a:solidFill>
                  <a:schemeClr val="dk1"/>
                </a:solidFill>
                <a:latin typeface="Times New Roman"/>
                <a:ea typeface="Times New Roman"/>
                <a:cs typeface="Times New Roman"/>
                <a:sym typeface="Times New Roman"/>
              </a:rPr>
              <a:t>: This tool is used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for determining the data source of a DNS server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Notifies the continuous process of DNS server </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b="1" dirty="0">
                <a:solidFill>
                  <a:schemeClr val="dk1"/>
                </a:solidFill>
                <a:latin typeface="Times New Roman"/>
                <a:ea typeface="Times New Roman"/>
                <a:cs typeface="Times New Roman"/>
                <a:sym typeface="Times New Roman"/>
              </a:rPr>
              <a:t>Hmap</a:t>
            </a:r>
            <a:r>
              <a:rPr lang="en" sz="1300" dirty="0">
                <a:solidFill>
                  <a:schemeClr val="dk1"/>
                </a:solidFill>
                <a:latin typeface="Times New Roman"/>
                <a:ea typeface="Times New Roman"/>
                <a:cs typeface="Times New Roman"/>
                <a:sym typeface="Times New Roman"/>
              </a:rPr>
              <a:t>: This tool is used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To get the fingerprinting of web servers </a:t>
            </a:r>
            <a:endParaRPr sz="1300" dirty="0">
              <a:solidFill>
                <a:schemeClr val="dk1"/>
              </a:solidFill>
              <a:latin typeface="Times New Roman"/>
              <a:ea typeface="Times New Roman"/>
              <a:cs typeface="Times New Roman"/>
              <a:sym typeface="Times New Roman"/>
            </a:endParaRPr>
          </a:p>
          <a:p>
            <a:pPr marL="1371600" lvl="2"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to identify the version of server, vender of the server, model of the server and more </a:t>
            </a:r>
            <a:endParaRPr sz="1300" dirty="0">
              <a:solidFill>
                <a:schemeClr val="dk1"/>
              </a:solidFill>
              <a:latin typeface="Times New Roman"/>
              <a:ea typeface="Times New Roman"/>
              <a:cs typeface="Times New Roman"/>
              <a:sym typeface="Times New Roman"/>
            </a:endParaRPr>
          </a:p>
          <a:p>
            <a:pPr marL="457200" lvl="0" indent="-311150" algn="just" rtl="0">
              <a:lnSpc>
                <a:spcPct val="90000"/>
              </a:lnSpc>
              <a:spcBef>
                <a:spcPts val="0"/>
              </a:spcBef>
              <a:spcAft>
                <a:spcPts val="0"/>
              </a:spcAft>
              <a:buClr>
                <a:schemeClr val="dk1"/>
              </a:buClr>
              <a:buSzPts val="1300"/>
              <a:buFont typeface="Times New Roman"/>
              <a:buChar char="•"/>
            </a:pPr>
            <a:r>
              <a:rPr lang="en" sz="1300" b="1" dirty="0">
                <a:solidFill>
                  <a:schemeClr val="dk1"/>
                </a:solidFill>
                <a:latin typeface="Times New Roman"/>
                <a:ea typeface="Times New Roman"/>
                <a:cs typeface="Times New Roman"/>
                <a:sym typeface="Times New Roman"/>
              </a:rPr>
              <a:t>Nmap</a:t>
            </a:r>
            <a:r>
              <a:rPr lang="en" sz="1300" dirty="0">
                <a:solidFill>
                  <a:schemeClr val="dk1"/>
                </a:solidFill>
                <a:latin typeface="Times New Roman"/>
                <a:ea typeface="Times New Roman"/>
                <a:cs typeface="Times New Roman"/>
                <a:sym typeface="Times New Roman"/>
              </a:rPr>
              <a:t>: This tool is used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to scan the port address of the network, </a:t>
            </a:r>
            <a:endParaRPr sz="1300" dirty="0">
              <a:solidFill>
                <a:schemeClr val="dk1"/>
              </a:solidFill>
              <a:latin typeface="Times New Roman"/>
              <a:ea typeface="Times New Roman"/>
              <a:cs typeface="Times New Roman"/>
              <a:sym typeface="Times New Roman"/>
            </a:endParaRPr>
          </a:p>
          <a:p>
            <a:pPr marL="914400" lvl="1" indent="-311150" algn="just" rtl="0">
              <a:lnSpc>
                <a:spcPct val="90000"/>
              </a:lnSpc>
              <a:spcBef>
                <a:spcPts val="0"/>
              </a:spcBef>
              <a:spcAft>
                <a:spcPts val="0"/>
              </a:spcAft>
              <a:buClr>
                <a:schemeClr val="dk1"/>
              </a:buClr>
              <a:buSzPts val="1300"/>
              <a:buFont typeface="Times New Roman"/>
              <a:buChar char="–"/>
            </a:pPr>
            <a:r>
              <a:rPr lang="en" sz="1300" dirty="0">
                <a:solidFill>
                  <a:schemeClr val="dk1"/>
                </a:solidFill>
                <a:latin typeface="Times New Roman"/>
                <a:ea typeface="Times New Roman"/>
                <a:cs typeface="Times New Roman"/>
                <a:sym typeface="Times New Roman"/>
              </a:rPr>
              <a:t>It takes the fingerprint of operating system version, service and it can scan the network rapidly (http://insecure.org/nmap).</a:t>
            </a:r>
            <a:endParaRPr sz="1300" dirty="0">
              <a:solidFill>
                <a:schemeClr val="dk1"/>
              </a:solidFill>
              <a:latin typeface="Times New Roman"/>
              <a:ea typeface="Times New Roman"/>
              <a:cs typeface="Times New Roman"/>
              <a:sym typeface="Times New Roman"/>
            </a:endParaRPr>
          </a:p>
          <a:p>
            <a:pPr marL="0" lvl="0" indent="0" algn="l" rtl="0">
              <a:lnSpc>
                <a:spcPct val="105000"/>
              </a:lnSpc>
              <a:spcBef>
                <a:spcPts val="0"/>
              </a:spcBef>
              <a:spcAft>
                <a:spcPts val="1200"/>
              </a:spcAft>
              <a:buNone/>
            </a:pPr>
            <a:endParaRPr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graphicFrame>
        <p:nvGraphicFramePr>
          <p:cNvPr id="91" name="Google Shape;91;p20"/>
          <p:cNvGraphicFramePr/>
          <p:nvPr/>
        </p:nvGraphicFramePr>
        <p:xfrm>
          <a:off x="610450" y="3000025"/>
          <a:ext cx="7750325" cy="1920300"/>
        </p:xfrm>
        <a:graphic>
          <a:graphicData uri="http://schemas.openxmlformats.org/drawingml/2006/table">
            <a:tbl>
              <a:tblPr bandRow="1">
                <a:noFill/>
                <a:tableStyleId>{7BB7F7F7-D12E-4AE9-9629-C1C5CECE5D20}</a:tableStyleId>
              </a:tblPr>
              <a:tblGrid>
                <a:gridCol w="2403200">
                  <a:extLst>
                    <a:ext uri="{9D8B030D-6E8A-4147-A177-3AD203B41FA5}">
                      <a16:colId xmlns:a16="http://schemas.microsoft.com/office/drawing/2014/main" val="20000"/>
                    </a:ext>
                  </a:extLst>
                </a:gridCol>
                <a:gridCol w="2403200">
                  <a:extLst>
                    <a:ext uri="{9D8B030D-6E8A-4147-A177-3AD203B41FA5}">
                      <a16:colId xmlns:a16="http://schemas.microsoft.com/office/drawing/2014/main" val="20001"/>
                    </a:ext>
                  </a:extLst>
                </a:gridCol>
                <a:gridCol w="2943925">
                  <a:extLst>
                    <a:ext uri="{9D8B030D-6E8A-4147-A177-3AD203B41FA5}">
                      <a16:colId xmlns:a16="http://schemas.microsoft.com/office/drawing/2014/main" val="20002"/>
                    </a:ext>
                  </a:extLst>
                </a:gridCol>
              </a:tblGrid>
              <a:tr h="295300">
                <a:tc>
                  <a:txBody>
                    <a:bodyPr/>
                    <a:lstStyle/>
                    <a:p>
                      <a:pPr marL="0" lvl="0" indent="0" algn="just" rtl="0">
                        <a:spcBef>
                          <a:spcPts val="0"/>
                        </a:spcBef>
                        <a:spcAft>
                          <a:spcPts val="0"/>
                        </a:spcAft>
                        <a:buNone/>
                      </a:pPr>
                      <a:r>
                        <a:rPr lang="en" sz="1500" b="1">
                          <a:latin typeface="Times New Roman"/>
                          <a:ea typeface="Times New Roman"/>
                          <a:cs typeface="Times New Roman"/>
                          <a:sym typeface="Times New Roman"/>
                        </a:rPr>
                        <a:t>S.No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lvl="0" indent="0" algn="just" rtl="0">
                        <a:spcBef>
                          <a:spcPts val="0"/>
                        </a:spcBef>
                        <a:spcAft>
                          <a:spcPts val="0"/>
                        </a:spcAft>
                        <a:buNone/>
                      </a:pPr>
                      <a:r>
                        <a:rPr lang="en" sz="1500" b="1">
                          <a:latin typeface="Times New Roman"/>
                          <a:ea typeface="Times New Roman"/>
                          <a:cs typeface="Times New Roman"/>
                          <a:sym typeface="Times New Roman"/>
                        </a:rPr>
                        <a:t>Port Number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lvl="0" indent="0" algn="just" rtl="0">
                        <a:spcBef>
                          <a:spcPts val="0"/>
                        </a:spcBef>
                        <a:spcAft>
                          <a:spcPts val="0"/>
                        </a:spcAft>
                        <a:buNone/>
                      </a:pPr>
                      <a:r>
                        <a:rPr lang="en" sz="1500" b="1">
                          <a:latin typeface="Times New Roman"/>
                          <a:ea typeface="Times New Roman"/>
                          <a:cs typeface="Times New Roman"/>
                          <a:sym typeface="Times New Roman"/>
                        </a:rPr>
                        <a:t>Port Description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295300">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1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1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TCP Port service Multiplexer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295300">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2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18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Message send protocol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295300">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3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20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FTP data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295300">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4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25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SMTP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295300">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5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43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tc>
                  <a:txBody>
                    <a:bodyPr/>
                    <a:lstStyle/>
                    <a:p>
                      <a:pPr marL="0" lvl="0" indent="0" algn="just" rtl="0">
                        <a:spcBef>
                          <a:spcPts val="0"/>
                        </a:spcBef>
                        <a:spcAft>
                          <a:spcPts val="0"/>
                        </a:spcAft>
                        <a:buNone/>
                      </a:pPr>
                      <a:r>
                        <a:rPr lang="en" sz="1500">
                          <a:latin typeface="Times New Roman"/>
                          <a:ea typeface="Times New Roman"/>
                          <a:cs typeface="Times New Roman"/>
                          <a:sym typeface="Times New Roman"/>
                        </a:rPr>
                        <a:t>WHOIS </a:t>
                      </a:r>
                      <a:endParaRPr sz="1500">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bl>
          </a:graphicData>
        </a:graphic>
      </p:graphicFrame>
      <p:sp>
        <p:nvSpPr>
          <p:cNvPr id="92" name="Google Shape;92;p20"/>
          <p:cNvSpPr txBox="1"/>
          <p:nvPr/>
        </p:nvSpPr>
        <p:spPr>
          <a:xfrm>
            <a:off x="46600" y="0"/>
            <a:ext cx="8917500" cy="30000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500" b="1">
                <a:latin typeface="Times New Roman"/>
                <a:ea typeface="Times New Roman"/>
                <a:cs typeface="Times New Roman"/>
                <a:sym typeface="Times New Roman"/>
              </a:rPr>
              <a:t>Scanning and scrutinizing gathered Information</a:t>
            </a:r>
            <a:endParaRPr sz="1500">
              <a:latin typeface="Times New Roman"/>
              <a:ea typeface="Times New Roman"/>
              <a:cs typeface="Times New Roman"/>
              <a:sym typeface="Times New Roman"/>
            </a:endParaRPr>
          </a:p>
          <a:p>
            <a:pPr marL="457200" lvl="0" indent="-323850" algn="just" rtl="0">
              <a:spcBef>
                <a:spcPts val="0"/>
              </a:spcBef>
              <a:spcAft>
                <a:spcPts val="0"/>
              </a:spcAft>
              <a:buSzPts val="1500"/>
              <a:buFont typeface="Times New Roman"/>
              <a:buChar char="•"/>
            </a:pPr>
            <a:r>
              <a:rPr lang="en" sz="1500" b="1">
                <a:latin typeface="Times New Roman"/>
                <a:ea typeface="Times New Roman"/>
                <a:cs typeface="Times New Roman"/>
                <a:sym typeface="Times New Roman"/>
              </a:rPr>
              <a:t>Objectives of scanning:</a:t>
            </a:r>
            <a:endParaRPr sz="1500" b="1">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Port Scanning : Where information goes in and out of a computer</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Identify open/close ports and services</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Network Scanning: Understand IP addresses and computer network systems information.</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Vulnerability Scanning: Understand the existing weaknesses in the system.</a:t>
            </a:r>
            <a:endParaRPr sz="1500">
              <a:latin typeface="Times New Roman"/>
              <a:ea typeface="Times New Roman"/>
              <a:cs typeface="Times New Roman"/>
              <a:sym typeface="Times New Roman"/>
            </a:endParaRPr>
          </a:p>
          <a:p>
            <a:pPr marL="457200" lvl="0"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Scrutinizing : “Enumeration”</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Objectives:</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1. Valid user or group</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Network resources and /or shared resources</a:t>
            </a:r>
            <a:endParaRPr sz="1500">
              <a:latin typeface="Times New Roman"/>
              <a:ea typeface="Times New Roman"/>
              <a:cs typeface="Times New Roman"/>
              <a:sym typeface="Times New Roman"/>
            </a:endParaRPr>
          </a:p>
          <a:p>
            <a:pPr marL="914400" lvl="1"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OS and different applications that are running on the OS</a:t>
            </a:r>
            <a:endParaRPr sz="15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1"/>
          <p:cNvSpPr txBox="1">
            <a:spLocks noGrp="1"/>
          </p:cNvSpPr>
          <p:nvPr>
            <p:ph type="body" idx="1"/>
          </p:nvPr>
        </p:nvSpPr>
        <p:spPr>
          <a:xfrm>
            <a:off x="143300" y="118675"/>
            <a:ext cx="8916000" cy="4896000"/>
          </a:xfrm>
          <a:prstGeom prst="rect">
            <a:avLst/>
          </a:prstGeom>
        </p:spPr>
        <p:txBody>
          <a:bodyPr spcFirstLastPara="1" wrap="square" lIns="91425" tIns="91425" rIns="91425" bIns="91425" anchor="t" anchorCtr="0">
            <a:normAutofit/>
          </a:bodyPr>
          <a:lstStyle/>
          <a:p>
            <a:pPr marL="0" lvl="0" indent="0" algn="just" rtl="0">
              <a:lnSpc>
                <a:spcPct val="100000"/>
              </a:lnSpc>
              <a:spcBef>
                <a:spcPts val="0"/>
              </a:spcBef>
              <a:spcAft>
                <a:spcPts val="0"/>
              </a:spcAft>
              <a:buClr>
                <a:schemeClr val="dk1"/>
              </a:buClr>
              <a:buSzPts val="1100"/>
              <a:buFont typeface="Arial"/>
              <a:buNone/>
            </a:pPr>
            <a:r>
              <a:rPr lang="en" sz="1600" b="1">
                <a:solidFill>
                  <a:schemeClr val="dk1"/>
                </a:solidFill>
                <a:latin typeface="Times New Roman"/>
                <a:ea typeface="Times New Roman"/>
                <a:cs typeface="Times New Roman"/>
                <a:sym typeface="Times New Roman"/>
              </a:rPr>
              <a:t>Launch the Attack</a:t>
            </a:r>
            <a:endParaRPr sz="1600" b="1">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After scan and enumeration, the attack is launched using the following steps:</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Crack the password</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Exploit the privileges</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Execute the malicious commands/applications</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Hide the files</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Cover the tracks like delete the access logs.</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Note: </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The attackers spend 90% of the time in Reconnaissance, Scanning and scrutinizing on a target. </a:t>
            </a:r>
            <a:endParaRPr sz="1600">
              <a:solidFill>
                <a:schemeClr val="dk1"/>
              </a:solidFill>
              <a:latin typeface="Times New Roman"/>
              <a:ea typeface="Times New Roman"/>
              <a:cs typeface="Times New Roman"/>
              <a:sym typeface="Times New Roman"/>
            </a:endParaRPr>
          </a:p>
          <a:p>
            <a:pPr marL="914400" lvl="1"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Only 10% of the time in launching the attack.</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2"/>
          <p:cNvSpPr txBox="1">
            <a:spLocks noGrp="1"/>
          </p:cNvSpPr>
          <p:nvPr>
            <p:ph type="title"/>
          </p:nvPr>
        </p:nvSpPr>
        <p:spPr>
          <a:xfrm>
            <a:off x="261275" y="819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Social Engineering</a:t>
            </a:r>
            <a:endParaRPr/>
          </a:p>
        </p:txBody>
      </p:sp>
      <p:sp>
        <p:nvSpPr>
          <p:cNvPr id="103" name="Google Shape;103;p22"/>
          <p:cNvSpPr txBox="1">
            <a:spLocks noGrp="1"/>
          </p:cNvSpPr>
          <p:nvPr>
            <p:ph type="body" idx="1"/>
          </p:nvPr>
        </p:nvSpPr>
        <p:spPr>
          <a:xfrm>
            <a:off x="311700" y="654650"/>
            <a:ext cx="8520600" cy="4292100"/>
          </a:xfrm>
          <a:prstGeom prst="rect">
            <a:avLst/>
          </a:prstGeom>
        </p:spPr>
        <p:txBody>
          <a:bodyPr spcFirstLastPara="1" wrap="square" lIns="91425" tIns="91425" rIns="91425" bIns="91425" anchor="t" anchorCtr="0">
            <a:normAutofit/>
          </a:bodyPr>
          <a:lstStyle/>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It is a way for criminals to gain access to information systems. </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The purpose of social engineering is usually to secretly install spyware, other malicious software or to trick persons into handing over passwords and/or other sensitive financial or personal information</a:t>
            </a:r>
            <a:endParaRPr sz="16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 sz="1600" b="1">
                <a:solidFill>
                  <a:schemeClr val="dk1"/>
                </a:solidFill>
                <a:latin typeface="Times New Roman"/>
                <a:ea typeface="Times New Roman"/>
                <a:cs typeface="Times New Roman"/>
                <a:sym typeface="Times New Roman"/>
              </a:rPr>
              <a:t>What are they looking for</a:t>
            </a:r>
            <a:endParaRPr sz="1600" b="1">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Obtaining simple information such as your pet's name, where you're from, the places you've visited; information that you'd give out freely to your friends. </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Take a close look at some of the 'secure' sites you log into. Some have a 'secret question' you have to answer, if you cannot remember your username or password. The questions seem pretty tough for an outsider looking into trying to hack into your account. </a:t>
            </a:r>
            <a:endParaRPr sz="1600">
              <a:solidFill>
                <a:schemeClr val="dk1"/>
              </a:solidFill>
              <a:latin typeface="Times New Roman"/>
              <a:ea typeface="Times New Roman"/>
              <a:cs typeface="Times New Roman"/>
              <a:sym typeface="Times New Roman"/>
            </a:endParaRPr>
          </a:p>
          <a:p>
            <a:pPr marL="1828800" lvl="3"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What's the name of your first pet? </a:t>
            </a:r>
            <a:endParaRPr sz="1600">
              <a:solidFill>
                <a:schemeClr val="dk1"/>
              </a:solidFill>
              <a:latin typeface="Times New Roman"/>
              <a:ea typeface="Times New Roman"/>
              <a:cs typeface="Times New Roman"/>
              <a:sym typeface="Times New Roman"/>
            </a:endParaRPr>
          </a:p>
          <a:p>
            <a:pPr marL="1828800" lvl="3"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What is your maiden name? </a:t>
            </a:r>
            <a:endParaRPr sz="1600">
              <a:solidFill>
                <a:schemeClr val="dk1"/>
              </a:solidFill>
              <a:latin typeface="Times New Roman"/>
              <a:ea typeface="Times New Roman"/>
              <a:cs typeface="Times New Roman"/>
              <a:sym typeface="Times New Roman"/>
            </a:endParaRPr>
          </a:p>
          <a:p>
            <a:pPr marL="1828800" lvl="3"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When was your mother/father born? </a:t>
            </a:r>
            <a:endParaRPr sz="1600">
              <a:solidFill>
                <a:schemeClr val="dk1"/>
              </a:solidFill>
              <a:latin typeface="Times New Roman"/>
              <a:ea typeface="Times New Roman"/>
              <a:cs typeface="Times New Roman"/>
              <a:sym typeface="Times New Roman"/>
            </a:endParaRPr>
          </a:p>
          <a:p>
            <a:pPr marL="1828800" lvl="3"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Where were you born? </a:t>
            </a:r>
            <a:endParaRPr sz="16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 sz="1600" b="1" i="1">
                <a:solidFill>
                  <a:schemeClr val="dk1"/>
                </a:solidFill>
                <a:latin typeface="Times New Roman"/>
                <a:ea typeface="Times New Roman"/>
                <a:cs typeface="Times New Roman"/>
                <a:sym typeface="Times New Roman"/>
              </a:rPr>
              <a:t>Do these sound familiar?</a:t>
            </a:r>
            <a:endParaRPr sz="2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3"/>
          <p:cNvSpPr txBox="1">
            <a:spLocks noGrp="1"/>
          </p:cNvSpPr>
          <p:nvPr>
            <p:ph type="title"/>
          </p:nvPr>
        </p:nvSpPr>
        <p:spPr>
          <a:xfrm>
            <a:off x="261275" y="819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Social Engineering</a:t>
            </a:r>
            <a:endParaRPr/>
          </a:p>
        </p:txBody>
      </p:sp>
      <p:sp>
        <p:nvSpPr>
          <p:cNvPr id="109" name="Google Shape;109;p23"/>
          <p:cNvSpPr txBox="1">
            <a:spLocks noGrp="1"/>
          </p:cNvSpPr>
          <p:nvPr>
            <p:ph type="body" idx="1"/>
          </p:nvPr>
        </p:nvSpPr>
        <p:spPr>
          <a:xfrm>
            <a:off x="311700" y="654650"/>
            <a:ext cx="8520600" cy="4292100"/>
          </a:xfrm>
          <a:prstGeom prst="rect">
            <a:avLst/>
          </a:prstGeom>
        </p:spPr>
        <p:txBody>
          <a:bodyPr spcFirstLastPara="1" wrap="square" lIns="91425" tIns="91425" rIns="91425" bIns="91425" anchor="t" anchorCtr="0">
            <a:normAutofit/>
          </a:bodyPr>
          <a:lstStyle/>
          <a:p>
            <a:pPr marL="285750" lvl="0" indent="-28575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It is the “technique to influence” and “persuasion to deceive” people to obtain the information or perform some action. </a:t>
            </a:r>
            <a:endParaRPr sz="1600">
              <a:solidFill>
                <a:schemeClr val="dk1"/>
              </a:solidFill>
              <a:latin typeface="Calibri"/>
              <a:ea typeface="Calibri"/>
              <a:cs typeface="Calibri"/>
              <a:sym typeface="Calibri"/>
            </a:endParaRPr>
          </a:p>
          <a:p>
            <a:pPr marL="285750" lvl="0" indent="-28575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Social engineers exploit the natural tendency of a person to trust social engineers’ word, rather than exploiting computer security holes. </a:t>
            </a:r>
            <a:endParaRPr sz="900">
              <a:solidFill>
                <a:schemeClr val="dk1"/>
              </a:solidFill>
              <a:latin typeface="Calibri"/>
              <a:ea typeface="Calibri"/>
              <a:cs typeface="Calibri"/>
              <a:sym typeface="Calibri"/>
            </a:endParaRPr>
          </a:p>
          <a:p>
            <a:pPr marL="285750" lvl="0" indent="-28575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Social engineering involves gaining sensitive information or unauthorized access privileges by building inappropriate trust relationships with insiders. </a:t>
            </a:r>
            <a:endParaRPr sz="1600">
              <a:solidFill>
                <a:schemeClr val="dk1"/>
              </a:solidFill>
              <a:latin typeface="Calibri"/>
              <a:ea typeface="Calibri"/>
              <a:cs typeface="Calibri"/>
              <a:sym typeface="Calibri"/>
            </a:endParaRPr>
          </a:p>
          <a:p>
            <a:pPr marL="285750" lvl="0" indent="-28575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The sign of truly successful social engineers is that they receive information without any suspicion.</a:t>
            </a:r>
            <a:endParaRPr sz="1400">
              <a:solidFill>
                <a:schemeClr val="dk1"/>
              </a:solidFill>
            </a:endParaRPr>
          </a:p>
          <a:p>
            <a:pPr marL="0" lvl="0" indent="0" algn="l" rtl="0">
              <a:lnSpc>
                <a:spcPct val="100000"/>
              </a:lnSpc>
              <a:spcBef>
                <a:spcPts val="0"/>
              </a:spcBef>
              <a:spcAft>
                <a:spcPts val="0"/>
              </a:spcAft>
              <a:buNone/>
            </a:pPr>
            <a:r>
              <a:rPr lang="en" b="1">
                <a:solidFill>
                  <a:schemeClr val="dk1"/>
                </a:solidFill>
                <a:latin typeface="Calibri"/>
                <a:ea typeface="Calibri"/>
                <a:cs typeface="Calibri"/>
                <a:sym typeface="Calibri"/>
              </a:rPr>
              <a:t>Classification of Social Engineering</a:t>
            </a:r>
            <a:endParaRPr sz="1400">
              <a:solidFill>
                <a:schemeClr val="dk1"/>
              </a:solidFill>
            </a:endParaRPr>
          </a:p>
          <a:p>
            <a:pPr marL="0" lvl="0" indent="0" algn="l" rtl="0">
              <a:lnSpc>
                <a:spcPct val="100000"/>
              </a:lnSpc>
              <a:spcBef>
                <a:spcPts val="0"/>
              </a:spcBef>
              <a:spcAft>
                <a:spcPts val="0"/>
              </a:spcAft>
              <a:buNone/>
            </a:pPr>
            <a:r>
              <a:rPr lang="en" sz="1600" b="1">
                <a:solidFill>
                  <a:schemeClr val="dk1"/>
                </a:solidFill>
                <a:latin typeface="Calibri"/>
                <a:ea typeface="Calibri"/>
                <a:cs typeface="Calibri"/>
                <a:sym typeface="Calibri"/>
              </a:rPr>
              <a:t>1.</a:t>
            </a:r>
            <a:r>
              <a:rPr lang="en" sz="1600">
                <a:solidFill>
                  <a:schemeClr val="dk1"/>
                </a:solidFill>
                <a:latin typeface="Calibri"/>
                <a:ea typeface="Calibri"/>
                <a:cs typeface="Calibri"/>
                <a:sym typeface="Calibri"/>
              </a:rPr>
              <a:t> </a:t>
            </a:r>
            <a:r>
              <a:rPr lang="en" sz="1600" b="1" i="1">
                <a:solidFill>
                  <a:schemeClr val="dk1"/>
                </a:solidFill>
                <a:latin typeface="Calibri"/>
                <a:ea typeface="Calibri"/>
                <a:cs typeface="Calibri"/>
                <a:sym typeface="Calibri"/>
              </a:rPr>
              <a:t>Human-Based Social Engineering</a:t>
            </a:r>
            <a:endParaRPr sz="1400">
              <a:solidFill>
                <a:schemeClr val="dk1"/>
              </a:solidFill>
            </a:endParaRPr>
          </a:p>
          <a:p>
            <a:pPr marL="0" lvl="0" indent="0" algn="l" rtl="0">
              <a:lnSpc>
                <a:spcPct val="100000"/>
              </a:lnSpc>
              <a:spcBef>
                <a:spcPts val="0"/>
              </a:spcBef>
              <a:spcAft>
                <a:spcPts val="0"/>
              </a:spcAft>
              <a:buNone/>
            </a:pPr>
            <a:r>
              <a:rPr lang="en" sz="1600">
                <a:solidFill>
                  <a:schemeClr val="dk1"/>
                </a:solidFill>
                <a:latin typeface="Calibri"/>
                <a:ea typeface="Calibri"/>
                <a:cs typeface="Calibri"/>
                <a:sym typeface="Calibri"/>
              </a:rPr>
              <a:t>Human-based social engineering refers to person-to-person interaction to get the required/desired information.</a:t>
            </a:r>
            <a:endParaRPr sz="1400">
              <a:solidFill>
                <a:schemeClr val="dk1"/>
              </a:solidFill>
            </a:endParaRPr>
          </a:p>
          <a:p>
            <a:pPr marL="0" lvl="0" indent="0" algn="l" rtl="0">
              <a:lnSpc>
                <a:spcPct val="100000"/>
              </a:lnSpc>
              <a:spcBef>
                <a:spcPts val="0"/>
              </a:spcBef>
              <a:spcAft>
                <a:spcPts val="0"/>
              </a:spcAft>
              <a:buNone/>
            </a:pPr>
            <a:r>
              <a:rPr lang="en" sz="1600" b="1">
                <a:solidFill>
                  <a:schemeClr val="dk1"/>
                </a:solidFill>
                <a:latin typeface="Calibri"/>
                <a:ea typeface="Calibri"/>
                <a:cs typeface="Calibri"/>
                <a:sym typeface="Calibri"/>
              </a:rPr>
              <a:t>2.</a:t>
            </a:r>
            <a:r>
              <a:rPr lang="en" sz="1600">
                <a:solidFill>
                  <a:schemeClr val="dk1"/>
                </a:solidFill>
                <a:latin typeface="Calibri"/>
                <a:ea typeface="Calibri"/>
                <a:cs typeface="Calibri"/>
                <a:sym typeface="Calibri"/>
              </a:rPr>
              <a:t> </a:t>
            </a:r>
            <a:r>
              <a:rPr lang="en" sz="1600" b="1" i="1">
                <a:solidFill>
                  <a:schemeClr val="dk1"/>
                </a:solidFill>
                <a:latin typeface="Calibri"/>
                <a:ea typeface="Calibri"/>
                <a:cs typeface="Calibri"/>
                <a:sym typeface="Calibri"/>
              </a:rPr>
              <a:t>Computer-Based Social Engineering</a:t>
            </a:r>
            <a:endParaRPr sz="1400">
              <a:solidFill>
                <a:schemeClr val="dk1"/>
              </a:solidFill>
            </a:endParaRPr>
          </a:p>
          <a:p>
            <a:pPr marL="0" lvl="0" indent="0" algn="l" rtl="0">
              <a:lnSpc>
                <a:spcPct val="100000"/>
              </a:lnSpc>
              <a:spcBef>
                <a:spcPts val="0"/>
              </a:spcBef>
              <a:spcAft>
                <a:spcPts val="0"/>
              </a:spcAft>
              <a:buNone/>
            </a:pPr>
            <a:r>
              <a:rPr lang="en" sz="1600">
                <a:solidFill>
                  <a:schemeClr val="dk1"/>
                </a:solidFill>
                <a:latin typeface="Calibri"/>
                <a:ea typeface="Calibri"/>
                <a:cs typeface="Calibri"/>
                <a:sym typeface="Calibri"/>
              </a:rPr>
              <a:t>Computer-based social engineering refers to an attempt made to get the required/desired information by using computer software/Internet.</a:t>
            </a:r>
            <a:endParaRPr sz="500" b="1" i="1">
              <a:solidFill>
                <a:schemeClr val="dk1"/>
              </a:solidFill>
              <a:latin typeface="Calibri"/>
              <a:ea typeface="Calibri"/>
              <a:cs typeface="Calibri"/>
              <a:sym typeface="Calibri"/>
            </a:endParaRPr>
          </a:p>
          <a:p>
            <a:pPr marL="0" lvl="0" indent="0" algn="l" rtl="0">
              <a:spcBef>
                <a:spcPts val="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4"/>
          <p:cNvSpPr txBox="1">
            <a:spLocks noGrp="1"/>
          </p:cNvSpPr>
          <p:nvPr>
            <p:ph type="body" idx="1"/>
          </p:nvPr>
        </p:nvSpPr>
        <p:spPr>
          <a:xfrm>
            <a:off x="200300" y="114450"/>
            <a:ext cx="8684700" cy="4871700"/>
          </a:xfrm>
          <a:prstGeom prst="rect">
            <a:avLst/>
          </a:prstGeom>
        </p:spPr>
        <p:txBody>
          <a:bodyPr spcFirstLastPara="1" wrap="square" lIns="91425" tIns="91425" rIns="91425" bIns="91425" anchor="t" anchorCtr="0">
            <a:normAutofit/>
          </a:bodyPr>
          <a:lstStyle/>
          <a:p>
            <a:pPr marL="457200" lvl="0" indent="-304800" algn="just" rtl="0">
              <a:lnSpc>
                <a:spcPct val="100000"/>
              </a:lnSpc>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Human Based (Non Technical)</a:t>
            </a:r>
            <a:endParaRPr sz="1200" b="1">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Impersonating an employee or valid user : Posing employee of same organisation.</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Posing as an important user : Pretend to be an important user</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Using a third person : By authorised source to use system</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Calling technical support : By using Help desk</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Shoulder surfing : By watching over a person shoulder</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Dumpster diving : Looking in trash for information</a:t>
            </a:r>
            <a:endParaRPr sz="12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pic>
        <p:nvPicPr>
          <p:cNvPr id="115" name="Google Shape;115;p24" descr="https://usercontent2.hubstatic.com/8844467_f260.jpg"/>
          <p:cNvPicPr preferRelativeResize="0"/>
          <p:nvPr/>
        </p:nvPicPr>
        <p:blipFill>
          <a:blip r:embed="rId3">
            <a:alphaModFix/>
          </a:blip>
          <a:stretch>
            <a:fillRect/>
          </a:stretch>
        </p:blipFill>
        <p:spPr>
          <a:xfrm>
            <a:off x="5231500" y="832000"/>
            <a:ext cx="2476500" cy="2019300"/>
          </a:xfrm>
          <a:prstGeom prst="rect">
            <a:avLst/>
          </a:prstGeom>
          <a:noFill/>
          <a:ln>
            <a:noFill/>
          </a:ln>
        </p:spPr>
      </p:pic>
      <p:pic>
        <p:nvPicPr>
          <p:cNvPr id="116" name="Google Shape;116;p24"/>
          <p:cNvPicPr preferRelativeResize="0"/>
          <p:nvPr/>
        </p:nvPicPr>
        <p:blipFill>
          <a:blip r:embed="rId4">
            <a:alphaModFix/>
          </a:blip>
          <a:stretch>
            <a:fillRect/>
          </a:stretch>
        </p:blipFill>
        <p:spPr>
          <a:xfrm>
            <a:off x="998700" y="2071775"/>
            <a:ext cx="4067175" cy="2409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body" idx="1"/>
          </p:nvPr>
        </p:nvSpPr>
        <p:spPr>
          <a:xfrm>
            <a:off x="200300" y="214600"/>
            <a:ext cx="8631900" cy="4354200"/>
          </a:xfrm>
          <a:prstGeom prst="rect">
            <a:avLst/>
          </a:prstGeom>
        </p:spPr>
        <p:txBody>
          <a:bodyPr spcFirstLastPara="1" wrap="square" lIns="91425" tIns="91425" rIns="91425" bIns="91425" anchor="t" anchorCtr="0">
            <a:normAutofit/>
          </a:bodyPr>
          <a:lstStyle/>
          <a:p>
            <a:pPr marL="0" lvl="0" indent="0" algn="just" rtl="0">
              <a:lnSpc>
                <a:spcPct val="100000"/>
              </a:lnSpc>
              <a:spcBef>
                <a:spcPts val="0"/>
              </a:spcBef>
              <a:spcAft>
                <a:spcPts val="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2. Computer Based Social Engineering</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Fake EMails</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Email Attachments</a:t>
            </a:r>
            <a:endParaRPr sz="1200">
              <a:solidFill>
                <a:schemeClr val="dk1"/>
              </a:solidFill>
              <a:latin typeface="Times New Roman"/>
              <a:ea typeface="Times New Roman"/>
              <a:cs typeface="Times New Roman"/>
              <a:sym typeface="Times New Roman"/>
            </a:endParaRPr>
          </a:p>
          <a:p>
            <a:pPr marL="914400" lvl="1" indent="-304800" algn="just" rtl="0">
              <a:lnSpc>
                <a:spcPct val="1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Pop-up Windows</a:t>
            </a:r>
            <a:endParaRPr sz="12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Protecting Yourself from Social Engineering Attack</a:t>
            </a:r>
            <a:endParaRPr sz="1400" b="1">
              <a:solidFill>
                <a:schemeClr val="dk1"/>
              </a:solidFill>
              <a:latin typeface="Times New Roman"/>
              <a:ea typeface="Times New Roman"/>
              <a:cs typeface="Times New Roman"/>
              <a:sym typeface="Times New Roman"/>
            </a:endParaRPr>
          </a:p>
          <a:p>
            <a:pPr marL="457200" lvl="0" indent="-317500" algn="just" rtl="0">
              <a:lnSpc>
                <a:spcPct val="100000"/>
              </a:lnSpc>
              <a:spcBef>
                <a:spcPts val="0"/>
              </a:spcBef>
              <a:spcAft>
                <a:spcPts val="0"/>
              </a:spcAft>
              <a:buClr>
                <a:schemeClr val="dk1"/>
              </a:buClr>
              <a:buSzPts val="1400"/>
              <a:buFont typeface="Times New Roman"/>
              <a:buAutoNum type="arabicPeriod"/>
            </a:pPr>
            <a:r>
              <a:rPr lang="en" sz="1400">
                <a:solidFill>
                  <a:schemeClr val="dk1"/>
                </a:solidFill>
                <a:latin typeface="Times New Roman"/>
                <a:ea typeface="Times New Roman"/>
                <a:cs typeface="Times New Roman"/>
                <a:sym typeface="Times New Roman"/>
              </a:rPr>
              <a:t>Network defenses to repel virus</a:t>
            </a:r>
            <a:endParaRPr sz="1400">
              <a:solidFill>
                <a:schemeClr val="dk1"/>
              </a:solidFill>
              <a:latin typeface="Times New Roman"/>
              <a:ea typeface="Times New Roman"/>
              <a:cs typeface="Times New Roman"/>
              <a:sym typeface="Times New Roman"/>
            </a:endParaRPr>
          </a:p>
          <a:p>
            <a:pPr marL="1371600" lvl="2" indent="-317500" algn="just" rtl="0">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Virus protection (McAfee, Norton, Symantec, etc…)</a:t>
            </a:r>
            <a:endParaRPr>
              <a:solidFill>
                <a:schemeClr val="dk1"/>
              </a:solidFill>
              <a:latin typeface="Times New Roman"/>
              <a:ea typeface="Times New Roman"/>
              <a:cs typeface="Times New Roman"/>
              <a:sym typeface="Times New Roman"/>
            </a:endParaRPr>
          </a:p>
          <a:p>
            <a:pPr marL="1371600" lvl="2" indent="-317500" algn="just" rtl="0">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Email attachment scanning</a:t>
            </a:r>
            <a:endParaRPr>
              <a:solidFill>
                <a:schemeClr val="dk1"/>
              </a:solidFill>
              <a:latin typeface="Times New Roman"/>
              <a:ea typeface="Times New Roman"/>
              <a:cs typeface="Times New Roman"/>
              <a:sym typeface="Times New Roman"/>
            </a:endParaRPr>
          </a:p>
          <a:p>
            <a:pPr marL="1371600" lvl="2" indent="-317500" algn="just" rtl="0">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Firewalls, etc…</a:t>
            </a:r>
            <a:endParaRPr>
              <a:solidFill>
                <a:schemeClr val="dk1"/>
              </a:solidFill>
              <a:latin typeface="Times New Roman"/>
              <a:ea typeface="Times New Roman"/>
              <a:cs typeface="Times New Roman"/>
              <a:sym typeface="Times New Roman"/>
            </a:endParaRPr>
          </a:p>
          <a:p>
            <a:pPr marL="457200" lvl="0" indent="-317500" algn="just" rtl="0">
              <a:lnSpc>
                <a:spcPct val="100000"/>
              </a:lnSpc>
              <a:spcBef>
                <a:spcPts val="0"/>
              </a:spcBef>
              <a:spcAft>
                <a:spcPts val="0"/>
              </a:spcAft>
              <a:buClr>
                <a:schemeClr val="dk1"/>
              </a:buClr>
              <a:buSzPts val="1400"/>
              <a:buFont typeface="Times New Roman"/>
              <a:buAutoNum type="arabicPeriod"/>
            </a:pPr>
            <a:r>
              <a:rPr lang="en" sz="1400">
                <a:solidFill>
                  <a:schemeClr val="dk1"/>
                </a:solidFill>
                <a:latin typeface="Times New Roman"/>
                <a:ea typeface="Times New Roman"/>
                <a:cs typeface="Times New Roman"/>
                <a:sym typeface="Times New Roman"/>
              </a:rPr>
              <a:t>Organizations must decide what information is sensitive</a:t>
            </a:r>
            <a:endParaRPr sz="1400">
              <a:solidFill>
                <a:schemeClr val="dk1"/>
              </a:solidFill>
              <a:latin typeface="Times New Roman"/>
              <a:ea typeface="Times New Roman"/>
              <a:cs typeface="Times New Roman"/>
              <a:sym typeface="Times New Roman"/>
            </a:endParaRPr>
          </a:p>
          <a:p>
            <a:pPr marL="457200" lvl="0" indent="-317500" algn="just" rtl="0">
              <a:lnSpc>
                <a:spcPct val="100000"/>
              </a:lnSpc>
              <a:spcBef>
                <a:spcPts val="0"/>
              </a:spcBef>
              <a:spcAft>
                <a:spcPts val="0"/>
              </a:spcAft>
              <a:buClr>
                <a:schemeClr val="dk1"/>
              </a:buClr>
              <a:buSzPts val="1400"/>
              <a:buFont typeface="Times New Roman"/>
              <a:buAutoNum type="arabicPeriod"/>
            </a:pPr>
            <a:r>
              <a:rPr lang="en" sz="1400">
                <a:solidFill>
                  <a:schemeClr val="dk1"/>
                </a:solidFill>
                <a:latin typeface="Times New Roman"/>
                <a:ea typeface="Times New Roman"/>
                <a:cs typeface="Times New Roman"/>
                <a:sym typeface="Times New Roman"/>
              </a:rPr>
              <a:t>Security must be periodically tested</a:t>
            </a:r>
            <a:endParaRPr sz="1400">
              <a:solidFill>
                <a:schemeClr val="dk1"/>
              </a:solidFill>
              <a:latin typeface="Times New Roman"/>
              <a:ea typeface="Times New Roman"/>
              <a:cs typeface="Times New Roman"/>
              <a:sym typeface="Times New Roman"/>
            </a:endParaRPr>
          </a:p>
          <a:p>
            <a:pPr marL="457200" lvl="0" indent="-317500" algn="just" rtl="0">
              <a:lnSpc>
                <a:spcPct val="100000"/>
              </a:lnSpc>
              <a:spcBef>
                <a:spcPts val="0"/>
              </a:spcBef>
              <a:spcAft>
                <a:spcPts val="0"/>
              </a:spcAft>
              <a:buClr>
                <a:schemeClr val="dk1"/>
              </a:buClr>
              <a:buSzPts val="1400"/>
              <a:buFont typeface="Times New Roman"/>
              <a:buAutoNum type="arabicPeriod"/>
            </a:pPr>
            <a:r>
              <a:rPr lang="en" sz="1400">
                <a:solidFill>
                  <a:schemeClr val="dk1"/>
                </a:solidFill>
                <a:latin typeface="Times New Roman"/>
                <a:ea typeface="Times New Roman"/>
                <a:cs typeface="Times New Roman"/>
                <a:sym typeface="Times New Roman"/>
              </a:rPr>
              <a:t>Contact your security office immediately if you have any concerns at work</a:t>
            </a:r>
            <a:r>
              <a:rPr lang="en" sz="1400" b="1">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Cyber Stalking</a:t>
            </a:r>
            <a:endParaRPr/>
          </a:p>
        </p:txBody>
      </p:sp>
      <p:sp>
        <p:nvSpPr>
          <p:cNvPr id="127" name="Google Shape;127;p26"/>
          <p:cNvSpPr txBox="1">
            <a:spLocks noGrp="1"/>
          </p:cNvSpPr>
          <p:nvPr>
            <p:ph type="body" idx="1"/>
          </p:nvPr>
        </p:nvSpPr>
        <p:spPr>
          <a:xfrm>
            <a:off x="311700" y="1152475"/>
            <a:ext cx="4494000" cy="34164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 b="1" dirty="0">
                <a:solidFill>
                  <a:schemeClr val="dk1"/>
                </a:solidFill>
                <a:latin typeface="Times New Roman"/>
                <a:ea typeface="Times New Roman"/>
                <a:cs typeface="Times New Roman"/>
                <a:sym typeface="Times New Roman"/>
              </a:rPr>
              <a:t>Definition::</a:t>
            </a:r>
            <a:r>
              <a:rPr lang="en"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457200" lvl="0" indent="457200" algn="just" rtl="0">
              <a:lnSpc>
                <a:spcPct val="100000"/>
              </a:lnSpc>
              <a:spcBef>
                <a:spcPts val="0"/>
              </a:spcBef>
              <a:spcAft>
                <a:spcPts val="0"/>
              </a:spcAft>
              <a:buClr>
                <a:schemeClr val="dk1"/>
              </a:buClr>
              <a:buSzPts val="1100"/>
              <a:buFont typeface="Arial"/>
              <a:buNone/>
            </a:pPr>
            <a:r>
              <a:rPr lang="en" dirty="0">
                <a:solidFill>
                  <a:schemeClr val="dk1"/>
                </a:solidFill>
                <a:latin typeface="Times New Roman"/>
                <a:ea typeface="Times New Roman"/>
                <a:cs typeface="Times New Roman"/>
                <a:sym typeface="Times New Roman"/>
              </a:rPr>
              <a:t>It is a crime in which the attacker harasses a victim using electronic communication, such as e-mail or instant messaging (IM), or messages posted to a Web site or a discussion group.</a:t>
            </a:r>
            <a:endParaRPr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endParaRPr sz="1900"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 b="1" dirty="0">
                <a:solidFill>
                  <a:schemeClr val="dk1"/>
                </a:solidFill>
                <a:latin typeface="Times New Roman"/>
                <a:ea typeface="Times New Roman"/>
                <a:cs typeface="Times New Roman"/>
                <a:sym typeface="Times New Roman"/>
              </a:rPr>
              <a:t>Stalking : </a:t>
            </a:r>
            <a:endParaRPr b="1" dirty="0">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A cyberstalker relies upon the anonymity afforded by the Internet to allow them to </a:t>
            </a:r>
            <a:r>
              <a:rPr lang="en" b="1" dirty="0">
                <a:solidFill>
                  <a:schemeClr val="dk1"/>
                </a:solidFill>
                <a:latin typeface="Times New Roman"/>
                <a:ea typeface="Times New Roman"/>
                <a:cs typeface="Times New Roman"/>
                <a:sym typeface="Times New Roman"/>
              </a:rPr>
              <a:t>stalk</a:t>
            </a:r>
            <a:r>
              <a:rPr lang="en" dirty="0">
                <a:solidFill>
                  <a:schemeClr val="dk1"/>
                </a:solidFill>
                <a:latin typeface="Times New Roman"/>
                <a:ea typeface="Times New Roman"/>
                <a:cs typeface="Times New Roman"/>
                <a:sym typeface="Times New Roman"/>
              </a:rPr>
              <a:t> their victim without being detected.</a:t>
            </a:r>
            <a:endParaRPr sz="2400" dirty="0"/>
          </a:p>
        </p:txBody>
      </p:sp>
      <p:pic>
        <p:nvPicPr>
          <p:cNvPr id="128" name="Google Shape;128;p26" descr="http://4.bp.blogspot.com/_0UK2c7vc80s/TNEW_UtTbMI/AAAAAAAAAPs/9hiHGtB39qM/s1600/stalking.png"/>
          <p:cNvPicPr preferRelativeResize="0"/>
          <p:nvPr/>
        </p:nvPicPr>
        <p:blipFill>
          <a:blip r:embed="rId3">
            <a:alphaModFix/>
          </a:blip>
          <a:stretch>
            <a:fillRect/>
          </a:stretch>
        </p:blipFill>
        <p:spPr>
          <a:xfrm>
            <a:off x="5093525" y="335650"/>
            <a:ext cx="3467100" cy="2552700"/>
          </a:xfrm>
          <a:prstGeom prst="rect">
            <a:avLst/>
          </a:prstGeom>
          <a:noFill/>
          <a:ln>
            <a:noFill/>
          </a:ln>
        </p:spPr>
      </p:pic>
      <p:sp>
        <p:nvSpPr>
          <p:cNvPr id="129" name="Google Shape;129;p26"/>
          <p:cNvSpPr txBox="1"/>
          <p:nvPr/>
        </p:nvSpPr>
        <p:spPr>
          <a:xfrm>
            <a:off x="5026450" y="2768875"/>
            <a:ext cx="3861900" cy="2124000"/>
          </a:xfrm>
          <a:prstGeom prst="rect">
            <a:avLst/>
          </a:prstGeom>
          <a:noFill/>
          <a:ln>
            <a:noFill/>
          </a:ln>
        </p:spPr>
        <p:txBody>
          <a:bodyPr spcFirstLastPara="1" wrap="square" lIns="91425" tIns="91425" rIns="91425" bIns="91425" anchor="t" anchorCtr="0">
            <a:spAutoFit/>
          </a:bodyPr>
          <a:lstStyle/>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Cyberstalking messages differ from ordinary </a:t>
            </a:r>
            <a:r>
              <a:rPr lang="en" sz="1800" u="sng">
                <a:solidFill>
                  <a:schemeClr val="dk1"/>
                </a:solidFill>
                <a:latin typeface="Times New Roman"/>
                <a:ea typeface="Times New Roman"/>
                <a:cs typeface="Times New Roman"/>
                <a:sym typeface="Times New Roman"/>
              </a:rPr>
              <a:t>spam.</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Cyberstalker targets a specific victim with often threatening messages, while the spammer targets a multitude of recipients with simply annoying messages.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7"/>
          <p:cNvSpPr txBox="1">
            <a:spLocks noGrp="1"/>
          </p:cNvSpPr>
          <p:nvPr>
            <p:ph type="body" idx="1"/>
          </p:nvPr>
        </p:nvSpPr>
        <p:spPr>
          <a:xfrm>
            <a:off x="189400" y="229875"/>
            <a:ext cx="8763000" cy="4717800"/>
          </a:xfrm>
          <a:prstGeom prst="rect">
            <a:avLst/>
          </a:prstGeom>
        </p:spPr>
        <p:txBody>
          <a:bodyPr spcFirstLastPara="1" wrap="square" lIns="91425" tIns="91425" rIns="91425" bIns="91425" anchor="t" anchorCtr="0">
            <a:normAutofit/>
          </a:bodyPr>
          <a:lstStyle/>
          <a:p>
            <a:pPr marL="0" lvl="0" indent="0" algn="just" rtl="0">
              <a:lnSpc>
                <a:spcPct val="100000"/>
              </a:lnSpc>
              <a:spcBef>
                <a:spcPts val="0"/>
              </a:spcBef>
              <a:spcAft>
                <a:spcPts val="0"/>
              </a:spcAft>
              <a:buClr>
                <a:schemeClr val="dk1"/>
              </a:buClr>
              <a:buSzPts val="1100"/>
              <a:buFont typeface="Arial"/>
              <a:buNone/>
            </a:pPr>
            <a:r>
              <a:rPr lang="en" b="1">
                <a:solidFill>
                  <a:schemeClr val="dk1"/>
                </a:solidFill>
                <a:latin typeface="Times New Roman"/>
                <a:ea typeface="Times New Roman"/>
                <a:cs typeface="Times New Roman"/>
                <a:sym typeface="Times New Roman"/>
              </a:rPr>
              <a:t>Types of Stalkers</a:t>
            </a:r>
            <a:endParaRPr b="1">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Mainly 2 types : </a:t>
            </a:r>
            <a:endParaRPr>
              <a:solidFill>
                <a:schemeClr val="dk1"/>
              </a:solidFill>
              <a:latin typeface="Times New Roman"/>
              <a:ea typeface="Times New Roman"/>
              <a:cs typeface="Times New Roman"/>
              <a:sym typeface="Times New Roman"/>
            </a:endParaRPr>
          </a:p>
          <a:p>
            <a:pPr marL="914400" lvl="1" indent="-342900" algn="just" rtl="0">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Online Stalkers : </a:t>
            </a:r>
            <a:endParaRPr sz="1800">
              <a:solidFill>
                <a:schemeClr val="dk1"/>
              </a:solidFill>
              <a:latin typeface="Times New Roman"/>
              <a:ea typeface="Times New Roman"/>
              <a:cs typeface="Times New Roman"/>
              <a:sym typeface="Times New Roman"/>
            </a:endParaRPr>
          </a:p>
          <a:p>
            <a:pPr marL="1371600" lvl="2" indent="-342900" algn="just" rtl="0">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Def: Interaction with the victim using Internet.</a:t>
            </a:r>
            <a:endParaRPr sz="1800">
              <a:solidFill>
                <a:schemeClr val="dk1"/>
              </a:solidFill>
              <a:latin typeface="Times New Roman"/>
              <a:ea typeface="Times New Roman"/>
              <a:cs typeface="Times New Roman"/>
              <a:sym typeface="Times New Roman"/>
            </a:endParaRPr>
          </a:p>
          <a:p>
            <a:pPr marL="1371600" lvl="2" indent="-342900" algn="just" rtl="0">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Ex: Email, Chat</a:t>
            </a:r>
            <a:endParaRPr sz="1800">
              <a:solidFill>
                <a:schemeClr val="dk1"/>
              </a:solidFill>
              <a:latin typeface="Times New Roman"/>
              <a:ea typeface="Times New Roman"/>
              <a:cs typeface="Times New Roman"/>
              <a:sym typeface="Times New Roman"/>
            </a:endParaRPr>
          </a:p>
          <a:p>
            <a:pPr marL="914400" lvl="1" indent="-342900" algn="just" rtl="0">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Offline Stalkers:</a:t>
            </a:r>
            <a:endParaRPr sz="1800">
              <a:solidFill>
                <a:schemeClr val="dk1"/>
              </a:solidFill>
              <a:latin typeface="Times New Roman"/>
              <a:ea typeface="Times New Roman"/>
              <a:cs typeface="Times New Roman"/>
              <a:sym typeface="Times New Roman"/>
            </a:endParaRPr>
          </a:p>
          <a:p>
            <a:pPr marL="1371600" lvl="2" indent="-342900" algn="just" rtl="0">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Def: Begin the attack using traditional methods.</a:t>
            </a:r>
            <a:endParaRPr sz="1800">
              <a:solidFill>
                <a:schemeClr val="dk1"/>
              </a:solidFill>
              <a:latin typeface="Times New Roman"/>
              <a:ea typeface="Times New Roman"/>
              <a:cs typeface="Times New Roman"/>
              <a:sym typeface="Times New Roman"/>
            </a:endParaRPr>
          </a:p>
          <a:p>
            <a:pPr marL="1371600" lvl="2" indent="-330200" algn="just" rtl="0">
              <a:lnSpc>
                <a:spcPct val="100000"/>
              </a:lnSpc>
              <a:spcBef>
                <a:spcPts val="0"/>
              </a:spcBef>
              <a:spcAft>
                <a:spcPts val="0"/>
              </a:spcAft>
              <a:buClr>
                <a:schemeClr val="dk1"/>
              </a:buClr>
              <a:buSzPts val="1600"/>
              <a:buFont typeface="Times New Roman"/>
              <a:buChar char="•"/>
            </a:pPr>
            <a:r>
              <a:rPr lang="en" sz="1800">
                <a:solidFill>
                  <a:schemeClr val="dk1"/>
                </a:solidFill>
                <a:latin typeface="Times New Roman"/>
                <a:ea typeface="Times New Roman"/>
                <a:cs typeface="Times New Roman"/>
                <a:sym typeface="Times New Roman"/>
              </a:rPr>
              <a:t>Ex: Watching daily, Personal websites.</a:t>
            </a: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r>
              <a:rPr lang="en" sz="1900" b="1">
                <a:solidFill>
                  <a:schemeClr val="dk1"/>
                </a:solidFill>
                <a:latin typeface="Times New Roman"/>
                <a:ea typeface="Times New Roman"/>
                <a:cs typeface="Times New Roman"/>
                <a:sym typeface="Times New Roman"/>
              </a:rPr>
              <a:t>Other types :</a:t>
            </a:r>
            <a:endParaRPr sz="1900" b="1">
              <a:solidFill>
                <a:schemeClr val="dk1"/>
              </a:solidFill>
              <a:latin typeface="Times New Roman"/>
              <a:ea typeface="Times New Roman"/>
              <a:cs typeface="Times New Roman"/>
              <a:sym typeface="Times New Roman"/>
            </a:endParaRPr>
          </a:p>
          <a:p>
            <a:pPr marL="457200" lvl="0"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The four most important types are:</a:t>
            </a:r>
            <a:endParaRPr sz="1900">
              <a:solidFill>
                <a:schemeClr val="dk1"/>
              </a:solidFill>
              <a:latin typeface="Times New Roman"/>
              <a:ea typeface="Times New Roman"/>
              <a:cs typeface="Times New Roman"/>
              <a:sym typeface="Times New Roman"/>
            </a:endParaRPr>
          </a:p>
          <a:p>
            <a:pPr marL="1371600" lvl="2"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Rejected Stalker</a:t>
            </a:r>
            <a:endParaRPr sz="1900">
              <a:solidFill>
                <a:schemeClr val="dk1"/>
              </a:solidFill>
              <a:latin typeface="Times New Roman"/>
              <a:ea typeface="Times New Roman"/>
              <a:cs typeface="Times New Roman"/>
              <a:sym typeface="Times New Roman"/>
            </a:endParaRPr>
          </a:p>
          <a:p>
            <a:pPr marL="1371600" lvl="2"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Resentful Stalker</a:t>
            </a:r>
            <a:endParaRPr sz="1900">
              <a:solidFill>
                <a:schemeClr val="dk1"/>
              </a:solidFill>
              <a:latin typeface="Times New Roman"/>
              <a:ea typeface="Times New Roman"/>
              <a:cs typeface="Times New Roman"/>
              <a:sym typeface="Times New Roman"/>
            </a:endParaRPr>
          </a:p>
          <a:p>
            <a:pPr marL="1371600" lvl="2"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Predatory Stalker</a:t>
            </a:r>
            <a:endParaRPr sz="1900">
              <a:solidFill>
                <a:schemeClr val="dk1"/>
              </a:solidFill>
              <a:latin typeface="Times New Roman"/>
              <a:ea typeface="Times New Roman"/>
              <a:cs typeface="Times New Roman"/>
              <a:sym typeface="Times New Roman"/>
            </a:endParaRPr>
          </a:p>
          <a:p>
            <a:pPr marL="1371600" lvl="2" indent="-349250" algn="just" rtl="0">
              <a:lnSpc>
                <a:spcPct val="100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Intimacy Stalker</a:t>
            </a:r>
            <a:endParaRPr sz="2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8"/>
          <p:cNvSpPr txBox="1">
            <a:spLocks noGrp="1"/>
          </p:cNvSpPr>
          <p:nvPr>
            <p:ph type="body" idx="1"/>
          </p:nvPr>
        </p:nvSpPr>
        <p:spPr>
          <a:xfrm>
            <a:off x="189400" y="229875"/>
            <a:ext cx="8763000" cy="47178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 sz="1700" b="1" dirty="0">
                <a:solidFill>
                  <a:schemeClr val="dk1"/>
                </a:solidFill>
                <a:latin typeface="Times New Roman"/>
                <a:ea typeface="Times New Roman"/>
                <a:cs typeface="Times New Roman"/>
                <a:sym typeface="Times New Roman"/>
              </a:rPr>
              <a:t>Rejected Stalker</a:t>
            </a:r>
            <a:endParaRPr sz="1700" b="1"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Most common, persistent, and intrusive</a:t>
            </a:r>
            <a:endParaRPr sz="1700"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Obsessed with someone who is a former romantic partner or friend, and who has ended their relationship, or indicates that he or she intends to end the relationship.</a:t>
            </a:r>
            <a:endParaRPr sz="1700"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r>
              <a:rPr lang="en" sz="1700" b="1" dirty="0">
                <a:solidFill>
                  <a:schemeClr val="dk1"/>
                </a:solidFill>
                <a:latin typeface="Times New Roman"/>
                <a:ea typeface="Times New Roman"/>
                <a:cs typeface="Times New Roman"/>
                <a:sym typeface="Times New Roman"/>
              </a:rPr>
              <a:t>Resentful Stalker</a:t>
            </a:r>
            <a:endParaRPr sz="1700" b="1"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Looking for revenge against someone who has upset them--it could be someone known to the stalker or a complete stranger.   </a:t>
            </a:r>
            <a:endParaRPr sz="1700" dirty="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Their behaviors are meant to frighten and distress the victim</a:t>
            </a:r>
            <a:endParaRPr sz="1700"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r>
              <a:rPr lang="en" sz="1700" b="1" dirty="0">
                <a:solidFill>
                  <a:schemeClr val="dk1"/>
                </a:solidFill>
                <a:latin typeface="Times New Roman"/>
                <a:ea typeface="Times New Roman"/>
                <a:cs typeface="Times New Roman"/>
                <a:sym typeface="Times New Roman"/>
              </a:rPr>
              <a:t>Predatory Stalker</a:t>
            </a:r>
            <a:endParaRPr sz="1700" b="1"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Least common</a:t>
            </a:r>
            <a:endParaRPr sz="1700"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Are a classic sexual predator whose plan is to physically or sexually attack the victim.  </a:t>
            </a:r>
            <a:endParaRPr sz="1700"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Their motivated purely by the desire for sexual gratification and power over their victim</a:t>
            </a:r>
            <a:endParaRPr sz="1700"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r>
              <a:rPr lang="en" sz="1700" b="1" dirty="0">
                <a:solidFill>
                  <a:schemeClr val="dk1"/>
                </a:solidFill>
                <a:latin typeface="Times New Roman"/>
                <a:ea typeface="Times New Roman"/>
                <a:cs typeface="Times New Roman"/>
                <a:sym typeface="Times New Roman"/>
              </a:rPr>
              <a:t>Intimacy Stalker</a:t>
            </a:r>
            <a:endParaRPr sz="1700" b="1"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They seeks to establish an intimate, loving relationship with their victim.  </a:t>
            </a:r>
            <a:endParaRPr sz="1700" dirty="0">
              <a:solidFill>
                <a:schemeClr val="dk1"/>
              </a:solidFill>
              <a:latin typeface="Times New Roman"/>
              <a:ea typeface="Times New Roman"/>
              <a:cs typeface="Times New Roman"/>
              <a:sym typeface="Times New Roman"/>
            </a:endParaRPr>
          </a:p>
          <a:p>
            <a:pPr marL="914400" lvl="1"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The victim and himself were “meant to be together.”</a:t>
            </a:r>
            <a:endParaRPr sz="1700" dirty="0">
              <a:solidFill>
                <a:schemeClr val="dk1"/>
              </a:solidFill>
              <a:latin typeface="Times New Roman"/>
              <a:ea typeface="Times New Roman"/>
              <a:cs typeface="Times New Roman"/>
              <a:sym typeface="Times New Roman"/>
            </a:endParaRPr>
          </a:p>
          <a:p>
            <a:pPr marL="457200" lvl="0" indent="-336550" algn="just" rtl="0">
              <a:lnSpc>
                <a:spcPct val="100000"/>
              </a:lnSpc>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These types of people think that the victim owes them love and affection because of all the time and effort it took for the stalker to stalk them. </a:t>
            </a:r>
            <a:endParaRPr sz="1700"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sz="23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9"/>
          <p:cNvSpPr txBox="1">
            <a:spLocks noGrp="1"/>
          </p:cNvSpPr>
          <p:nvPr>
            <p:ph type="body" idx="1"/>
          </p:nvPr>
        </p:nvSpPr>
        <p:spPr>
          <a:xfrm>
            <a:off x="189400" y="229875"/>
            <a:ext cx="8763000" cy="47178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 sz="1600" b="1">
                <a:solidFill>
                  <a:schemeClr val="dk1"/>
                </a:solidFill>
                <a:latin typeface="Times New Roman"/>
                <a:ea typeface="Times New Roman"/>
                <a:cs typeface="Times New Roman"/>
                <a:sym typeface="Times New Roman"/>
              </a:rPr>
              <a:t>Analysis…</a:t>
            </a:r>
            <a:endParaRPr sz="1600" b="1">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The majority of cyberstalkers are men and the majority of their victims are women but….. </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Jane A. Hitchcock, president of WHOA says, “The most surprising thing we've seen is the rise in female cyberstalkers - this increased from 27% in 2000 to 35% in 2002 to 38% in 2003.” </a:t>
            </a:r>
            <a:endParaRPr sz="1600">
              <a:solidFill>
                <a:schemeClr val="dk1"/>
              </a:solidFill>
              <a:latin typeface="Times New Roman"/>
              <a:ea typeface="Times New Roman"/>
              <a:cs typeface="Times New Roman"/>
              <a:sym typeface="Times New Roman"/>
            </a:endParaRPr>
          </a:p>
          <a:p>
            <a:pPr marL="457200" lvl="0" indent="-330200" algn="just" rtl="0">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According to the Working to Halt Online Abuse (WHOA) from 2000 to 2006, out of the total cases, 2036, of cyberstalking…. </a:t>
            </a:r>
            <a:endParaRPr sz="2100" b="1">
              <a:solidFill>
                <a:schemeClr val="dk1"/>
              </a:solidFill>
              <a:latin typeface="Times New Roman"/>
              <a:ea typeface="Times New Roman"/>
              <a:cs typeface="Times New Roman"/>
              <a:sym typeface="Times New Roman"/>
            </a:endParaRPr>
          </a:p>
        </p:txBody>
      </p:sp>
      <p:pic>
        <p:nvPicPr>
          <p:cNvPr id="145" name="Google Shape;145;p29" descr="untitled2.JPG"/>
          <p:cNvPicPr preferRelativeResize="0"/>
          <p:nvPr/>
        </p:nvPicPr>
        <p:blipFill>
          <a:blip r:embed="rId3">
            <a:alphaModFix/>
          </a:blip>
          <a:stretch>
            <a:fillRect/>
          </a:stretch>
        </p:blipFill>
        <p:spPr>
          <a:xfrm>
            <a:off x="3182600" y="1729000"/>
            <a:ext cx="4562475" cy="3333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0"/>
          <p:cNvSpPr txBox="1">
            <a:spLocks noGrp="1"/>
          </p:cNvSpPr>
          <p:nvPr>
            <p:ph type="body" idx="1"/>
          </p:nvPr>
        </p:nvSpPr>
        <p:spPr>
          <a:xfrm>
            <a:off x="144675" y="73350"/>
            <a:ext cx="8763000" cy="47178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 sz="2100" b="1" dirty="0">
                <a:solidFill>
                  <a:schemeClr val="dk1"/>
                </a:solidFill>
                <a:latin typeface="Times New Roman"/>
                <a:ea typeface="Times New Roman"/>
                <a:cs typeface="Times New Roman"/>
                <a:sym typeface="Times New Roman"/>
              </a:rPr>
              <a:t>How stalking works?</a:t>
            </a:r>
            <a:endParaRPr sz="2100" b="1" dirty="0">
              <a:solidFill>
                <a:schemeClr val="dk1"/>
              </a:solidFill>
              <a:latin typeface="Times New Roman"/>
              <a:ea typeface="Times New Roman"/>
              <a:cs typeface="Times New Roman"/>
              <a:sym typeface="Times New Roman"/>
            </a:endParaRPr>
          </a:p>
          <a:p>
            <a:pPr marL="457200" lvl="0" indent="-361950" algn="just" rtl="0">
              <a:lnSpc>
                <a:spcPct val="100000"/>
              </a:lnSpc>
              <a:spcBef>
                <a:spcPts val="0"/>
              </a:spcBef>
              <a:spcAft>
                <a:spcPts val="0"/>
              </a:spcAft>
              <a:buClr>
                <a:schemeClr val="dk1"/>
              </a:buClr>
              <a:buSzPts val="2100"/>
              <a:buFont typeface="Times New Roman"/>
              <a:buChar char="•"/>
            </a:pPr>
            <a:r>
              <a:rPr lang="en" sz="2100" dirty="0">
                <a:solidFill>
                  <a:schemeClr val="dk1"/>
                </a:solidFill>
                <a:latin typeface="Times New Roman"/>
                <a:ea typeface="Times New Roman"/>
                <a:cs typeface="Times New Roman"/>
                <a:sym typeface="Times New Roman"/>
              </a:rPr>
              <a:t>In the following way</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Personal information gathering about the victim.</a:t>
            </a:r>
            <a:endParaRPr sz="2100" dirty="0">
              <a:solidFill>
                <a:schemeClr val="dk1"/>
              </a:solidFill>
              <a:latin typeface="Times New Roman"/>
              <a:ea typeface="Times New Roman"/>
              <a:cs typeface="Times New Roman"/>
              <a:sym typeface="Times New Roman"/>
            </a:endParaRPr>
          </a:p>
          <a:p>
            <a:pPr marL="1371600" lvl="2" indent="-361950" algn="just" rtl="0">
              <a:lnSpc>
                <a:spcPct val="100000"/>
              </a:lnSpc>
              <a:spcBef>
                <a:spcPts val="0"/>
              </a:spcBef>
              <a:spcAft>
                <a:spcPts val="0"/>
              </a:spcAft>
              <a:buClr>
                <a:schemeClr val="dk1"/>
              </a:buClr>
              <a:buSzPts val="2100"/>
              <a:buFont typeface="Times New Roman"/>
              <a:buChar char="•"/>
            </a:pPr>
            <a:r>
              <a:rPr lang="en" sz="2100" dirty="0">
                <a:solidFill>
                  <a:schemeClr val="dk1"/>
                </a:solidFill>
                <a:latin typeface="Times New Roman"/>
                <a:ea typeface="Times New Roman"/>
                <a:cs typeface="Times New Roman"/>
                <a:sym typeface="Times New Roman"/>
              </a:rPr>
              <a:t>Ex: Name, background, contact number, etc.</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Establish a contact with victim through phone.</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Stalkers will almost always establish a contact with the victims through EMail.</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Some stalkers keep on sending repeated E-mail.</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Post victims personal information on any illicit services website</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Who were received information , start calling the victims on the given contact details.</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Stalkers subscribe/register the E-mail account of the victim to pornographic and sex sites.</a:t>
            </a:r>
            <a:endParaRPr sz="2100" dirty="0">
              <a:solidFill>
                <a:schemeClr val="dk1"/>
              </a:solidFill>
              <a:latin typeface="Times New Roman"/>
              <a:ea typeface="Times New Roman"/>
              <a:cs typeface="Times New Roman"/>
              <a:sym typeface="Times New Roman"/>
            </a:endParaRPr>
          </a:p>
          <a:p>
            <a:pPr marL="457200" lvl="0" indent="-361950" algn="just" rtl="0">
              <a:lnSpc>
                <a:spcPct val="100000"/>
              </a:lnSpc>
              <a:spcBef>
                <a:spcPts val="0"/>
              </a:spcBef>
              <a:spcAft>
                <a:spcPts val="0"/>
              </a:spcAft>
              <a:buClr>
                <a:schemeClr val="dk1"/>
              </a:buClr>
              <a:buSzPts val="2100"/>
              <a:buFont typeface="Times New Roman"/>
              <a:buAutoNum type="arabicPeriod"/>
            </a:pPr>
            <a:r>
              <a:rPr lang="en" sz="2100" dirty="0">
                <a:solidFill>
                  <a:schemeClr val="dk1"/>
                </a:solidFill>
                <a:latin typeface="Times New Roman"/>
                <a:ea typeface="Times New Roman"/>
                <a:cs typeface="Times New Roman"/>
                <a:sym typeface="Times New Roman"/>
              </a:rPr>
              <a:t>Real Life Incident:</a:t>
            </a:r>
            <a:endParaRPr sz="2100" dirty="0">
              <a:solidFill>
                <a:schemeClr val="dk1"/>
              </a:solidFill>
              <a:latin typeface="Times New Roman"/>
              <a:ea typeface="Times New Roman"/>
              <a:cs typeface="Times New Roman"/>
              <a:sym typeface="Times New Roman"/>
            </a:endParaRPr>
          </a:p>
          <a:p>
            <a:pPr marL="914400" lvl="1" indent="-361950" algn="just" rtl="0">
              <a:lnSpc>
                <a:spcPct val="100000"/>
              </a:lnSpc>
              <a:spcBef>
                <a:spcPts val="0"/>
              </a:spcBef>
              <a:spcAft>
                <a:spcPts val="0"/>
              </a:spcAft>
              <a:buClr>
                <a:schemeClr val="dk1"/>
              </a:buClr>
              <a:buSzPts val="2100"/>
              <a:buFont typeface="Times New Roman"/>
              <a:buChar char="–"/>
            </a:pPr>
            <a:r>
              <a:rPr lang="en" sz="2100" dirty="0">
                <a:solidFill>
                  <a:schemeClr val="dk1"/>
                </a:solidFill>
                <a:latin typeface="Times New Roman"/>
                <a:ea typeface="Times New Roman"/>
                <a:cs typeface="Times New Roman"/>
                <a:sym typeface="Times New Roman"/>
              </a:rPr>
              <a:t>Case study: In Delhi, 40 calls  in 3 days.</a:t>
            </a:r>
            <a:endParaRPr sz="30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1"/>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r>
              <a:rPr lang="en" sz="2020" b="1">
                <a:latin typeface="Calibri"/>
                <a:ea typeface="Calibri"/>
                <a:cs typeface="Calibri"/>
                <a:sym typeface="Calibri"/>
              </a:rPr>
              <a:t>Cybercafe and Cybercrimes</a:t>
            </a:r>
            <a:endParaRPr sz="1660"/>
          </a:p>
          <a:p>
            <a:pPr marL="0" lvl="0" indent="0" algn="l" rtl="0">
              <a:spcBef>
                <a:spcPts val="0"/>
              </a:spcBef>
              <a:spcAft>
                <a:spcPts val="0"/>
              </a:spcAft>
              <a:buSzPts val="990"/>
              <a:buNone/>
            </a:pPr>
            <a:endParaRPr sz="2520"/>
          </a:p>
        </p:txBody>
      </p:sp>
      <p:sp>
        <p:nvSpPr>
          <p:cNvPr id="156" name="Google Shape;156;p31"/>
          <p:cNvSpPr txBox="1">
            <a:spLocks noGrp="1"/>
          </p:cNvSpPr>
          <p:nvPr>
            <p:ph type="body" idx="4294967295"/>
          </p:nvPr>
        </p:nvSpPr>
        <p:spPr>
          <a:xfrm>
            <a:off x="311700" y="1152475"/>
            <a:ext cx="8520600" cy="3416400"/>
          </a:xfrm>
          <a:prstGeom prst="rect">
            <a:avLst/>
          </a:prstGeom>
        </p:spPr>
        <p:txBody>
          <a:bodyPr spcFirstLastPara="1" wrap="square" lIns="91425" tIns="91425" rIns="91425" bIns="91425" anchor="t" anchorCtr="0">
            <a:normAutofit/>
          </a:bodyPr>
          <a:lstStyle/>
          <a:p>
            <a:pPr marL="285750" lvl="0" indent="-285750" algn="just" rtl="0">
              <a:lnSpc>
                <a:spcPct val="15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Cybercrimes such as stealing of bank passwords and subsequent fraudulent withdrawal of money have also happened through cybercafes. </a:t>
            </a:r>
            <a:endParaRPr sz="1600" dirty="0">
              <a:solidFill>
                <a:schemeClr val="dk1"/>
              </a:solidFill>
              <a:latin typeface="Calibri"/>
              <a:ea typeface="Calibri"/>
              <a:cs typeface="Calibri"/>
              <a:sym typeface="Calibri"/>
            </a:endParaRPr>
          </a:p>
          <a:p>
            <a:pPr marL="285750" lvl="0" indent="-285750" algn="just" rtl="0">
              <a:lnSpc>
                <a:spcPct val="15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Cybercafes have also been used regularly for sending obscene mails to harass people. </a:t>
            </a:r>
            <a:endParaRPr sz="1400" dirty="0">
              <a:solidFill>
                <a:schemeClr val="dk1"/>
              </a:solidFill>
            </a:endParaRPr>
          </a:p>
          <a:p>
            <a:pPr marL="285750" lvl="0" indent="-285750" algn="just" rtl="0">
              <a:lnSpc>
                <a:spcPct val="15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Indian Information Technology Act (ITA) 2000 interprets cybercafes as “network service providers” referred to under the erstwhile Section 79, which imposed on them a responsibility for “due diligence” failing which they would be liable for the offenses committed in their network. </a:t>
            </a:r>
            <a:endParaRPr sz="1400"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32"/>
          <p:cNvPicPr preferRelativeResize="0"/>
          <p:nvPr/>
        </p:nvPicPr>
        <p:blipFill rotWithShape="1">
          <a:blip r:embed="rId3">
            <a:alphaModFix/>
          </a:blip>
          <a:srcRect/>
          <a:stretch/>
        </p:blipFill>
        <p:spPr>
          <a:xfrm>
            <a:off x="228600" y="107300"/>
            <a:ext cx="7696200" cy="47500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33"/>
          <p:cNvPicPr preferRelativeResize="0"/>
          <p:nvPr/>
        </p:nvPicPr>
        <p:blipFill rotWithShape="1">
          <a:blip r:embed="rId3">
            <a:alphaModFix/>
          </a:blip>
          <a:srcRect/>
          <a:stretch/>
        </p:blipFill>
        <p:spPr>
          <a:xfrm>
            <a:off x="273975" y="546974"/>
            <a:ext cx="8782050" cy="4403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4"/>
          <p:cNvSpPr txBox="1">
            <a:spLocks noGrp="1"/>
          </p:cNvSpPr>
          <p:nvPr>
            <p:ph type="title"/>
          </p:nvPr>
        </p:nvSpPr>
        <p:spPr>
          <a:xfrm>
            <a:off x="490250" y="450150"/>
            <a:ext cx="81657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Clr>
                <a:schemeClr val="dk1"/>
              </a:buClr>
              <a:buFont typeface="Arial"/>
              <a:buNone/>
            </a:pPr>
            <a:r>
              <a:rPr lang="en" sz="1600">
                <a:latin typeface="Calibri"/>
                <a:ea typeface="Calibri"/>
                <a:cs typeface="Calibri"/>
                <a:sym typeface="Calibri"/>
              </a:rPr>
              <a:t>Cybercriminals can either install malicious programs such as keyloggers and/or Spyware or launch an attack on the target. </a:t>
            </a:r>
            <a:endParaRPr sz="900">
              <a:latin typeface="Calibri"/>
              <a:ea typeface="Calibri"/>
              <a:cs typeface="Calibri"/>
              <a:sym typeface="Calibri"/>
            </a:endParaRPr>
          </a:p>
          <a:p>
            <a:pPr marL="0" lvl="0" indent="0" algn="l" rtl="0">
              <a:spcBef>
                <a:spcPts val="0"/>
              </a:spcBef>
              <a:spcAft>
                <a:spcPts val="0"/>
              </a:spcAft>
              <a:buClr>
                <a:schemeClr val="dk1"/>
              </a:buClr>
              <a:buFont typeface="Arial"/>
              <a:buNone/>
            </a:pPr>
            <a:r>
              <a:rPr lang="en" sz="1600">
                <a:latin typeface="Calibri"/>
                <a:ea typeface="Calibri"/>
                <a:cs typeface="Calibri"/>
                <a:sym typeface="Calibri"/>
              </a:rPr>
              <a:t>Here are a few tips for safety and security while using the computer in a cybercafe:</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Always logout</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Stay with the computer</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Clear history and temporary files</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Be alert</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Avoid online financial transactions</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Change passwords</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Virtual keyboard</a:t>
            </a:r>
            <a:endParaRPr sz="1400"/>
          </a:p>
          <a:p>
            <a:pPr marL="685800" lvl="1" indent="-228600" algn="l" rtl="0">
              <a:spcBef>
                <a:spcPts val="0"/>
              </a:spcBef>
              <a:spcAft>
                <a:spcPts val="0"/>
              </a:spcAft>
              <a:buSzPts val="1600"/>
              <a:buFont typeface="Calibri"/>
              <a:buAutoNum type="arabicPeriod"/>
            </a:pPr>
            <a:r>
              <a:rPr lang="en" sz="1600">
                <a:latin typeface="Calibri"/>
                <a:ea typeface="Calibri"/>
                <a:cs typeface="Calibri"/>
                <a:sym typeface="Calibri"/>
              </a:rPr>
              <a:t>Security warnings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C51A2-A59E-1667-8E1B-D608E5F7BE08}"/>
              </a:ext>
            </a:extLst>
          </p:cNvPr>
          <p:cNvSpPr>
            <a:spLocks noGrp="1"/>
          </p:cNvSpPr>
          <p:nvPr>
            <p:ph type="title"/>
          </p:nvPr>
        </p:nvSpPr>
        <p:spPr>
          <a:xfrm>
            <a:off x="490250" y="450150"/>
            <a:ext cx="7871086" cy="1316657"/>
          </a:xfrm>
        </p:spPr>
        <p:txBody>
          <a:bodyPr>
            <a:normAutofit/>
          </a:bodyPr>
          <a:lstStyle/>
          <a:p>
            <a:r>
              <a:rPr lang="en-US" dirty="0"/>
              <a:t>Beyond the Syllabus:</a:t>
            </a:r>
            <a:br>
              <a:rPr lang="en-US" dirty="0"/>
            </a:br>
            <a:r>
              <a:rPr lang="en-US" sz="2200" dirty="0"/>
              <a:t>Awareness Theory</a:t>
            </a:r>
            <a:endParaRPr lang="en-IN" sz="2200" dirty="0"/>
          </a:p>
        </p:txBody>
      </p:sp>
      <p:pic>
        <p:nvPicPr>
          <p:cNvPr id="3" name="Picture 2">
            <a:extLst>
              <a:ext uri="{FF2B5EF4-FFF2-40B4-BE49-F238E27FC236}">
                <a16:creationId xmlns:a16="http://schemas.microsoft.com/office/drawing/2014/main" id="{BFB664CA-BB10-C899-B776-3EFC35722A91}"/>
              </a:ext>
            </a:extLst>
          </p:cNvPr>
          <p:cNvPicPr>
            <a:picLocks noChangeAspect="1"/>
          </p:cNvPicPr>
          <p:nvPr/>
        </p:nvPicPr>
        <p:blipFill>
          <a:blip r:embed="rId2"/>
          <a:stretch>
            <a:fillRect/>
          </a:stretch>
        </p:blipFill>
        <p:spPr>
          <a:xfrm>
            <a:off x="3236705" y="1462399"/>
            <a:ext cx="5041829" cy="3164098"/>
          </a:xfrm>
          <a:prstGeom prst="rect">
            <a:avLst/>
          </a:prstGeom>
        </p:spPr>
      </p:pic>
    </p:spTree>
    <p:extLst>
      <p:ext uri="{BB962C8B-B14F-4D97-AF65-F5344CB8AC3E}">
        <p14:creationId xmlns:p14="http://schemas.microsoft.com/office/powerpoint/2010/main" val="437663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0B983-E284-520F-6131-0B2A583F5F9A}"/>
              </a:ext>
            </a:extLst>
          </p:cNvPr>
          <p:cNvSpPr>
            <a:spLocks noGrp="1"/>
          </p:cNvSpPr>
          <p:nvPr>
            <p:ph type="title"/>
          </p:nvPr>
        </p:nvSpPr>
        <p:spPr/>
        <p:txBody>
          <a:bodyPr>
            <a:normAutofit fontScale="90000"/>
          </a:bodyPr>
          <a:lstStyle/>
          <a:p>
            <a:r>
              <a:rPr lang="en-US" dirty="0"/>
              <a:t>10 Common Tricks Used by Scammers:</a:t>
            </a:r>
            <a:endParaRPr lang="en-IN" dirty="0"/>
          </a:p>
        </p:txBody>
      </p:sp>
      <p:sp>
        <p:nvSpPr>
          <p:cNvPr id="3" name="Text Placeholder 2">
            <a:extLst>
              <a:ext uri="{FF2B5EF4-FFF2-40B4-BE49-F238E27FC236}">
                <a16:creationId xmlns:a16="http://schemas.microsoft.com/office/drawing/2014/main" id="{8CD9FA9E-C186-3EE3-B76B-2667C70895F2}"/>
              </a:ext>
            </a:extLst>
          </p:cNvPr>
          <p:cNvSpPr>
            <a:spLocks noGrp="1"/>
          </p:cNvSpPr>
          <p:nvPr>
            <p:ph type="body" idx="1"/>
          </p:nvPr>
        </p:nvSpPr>
        <p:spPr/>
        <p:txBody>
          <a:bodyPr>
            <a:normAutofit fontScale="92500" lnSpcReduction="10000"/>
          </a:bodyPr>
          <a:lstStyle/>
          <a:p>
            <a:r>
              <a:rPr lang="en-US" dirty="0"/>
              <a:t>Beware and Stay </a:t>
            </a:r>
            <a:r>
              <a:rPr lang="en-US" dirty="0" err="1"/>
              <a:t>Safe:Scammers</a:t>
            </a:r>
            <a:r>
              <a:rPr lang="en-US" dirty="0"/>
              <a:t> target people of all ages, but middle-aged and elderly individuals are particularly vulnerable. Be cautious and aware of these common tricks:</a:t>
            </a:r>
          </a:p>
          <a:p>
            <a:pPr algn="just">
              <a:buAutoNum type="arabicPeriod"/>
            </a:pPr>
            <a:r>
              <a:rPr lang="en-US" b="1" dirty="0"/>
              <a:t>TRAI Phone Scam: </a:t>
            </a:r>
            <a:r>
              <a:rPr lang="en-US" dirty="0"/>
              <a:t>Fraudsters claim to be from TRAI, stating your mobile number is linked to illegal activities, and services will be suspended.    - </a:t>
            </a:r>
          </a:p>
          <a:p>
            <a:pPr marL="114300" indent="0" algn="just">
              <a:buNone/>
            </a:pPr>
            <a:r>
              <a:rPr lang="en-US" dirty="0"/>
              <a:t>	Reality: TRAI doesn't suspend services; telecom companies do.</a:t>
            </a:r>
          </a:p>
          <a:p>
            <a:pPr marL="114300" indent="0" algn="just">
              <a:buNone/>
            </a:pPr>
            <a:r>
              <a:rPr lang="en-US" dirty="0"/>
              <a:t>2. </a:t>
            </a:r>
            <a:r>
              <a:rPr lang="en-US" b="1" dirty="0"/>
              <a:t>Parcel Stuck at Customs: </a:t>
            </a:r>
            <a:r>
              <a:rPr lang="en-US" dirty="0"/>
              <a:t>Scammers claim a parcel with contraband has been intercepted and demand payment.    - </a:t>
            </a:r>
          </a:p>
          <a:p>
            <a:pPr marL="114300" indent="0" algn="just">
              <a:buNone/>
            </a:pPr>
            <a:r>
              <a:rPr lang="en-US" dirty="0"/>
              <a:t>	Action: Disconnect and report the number.</a:t>
            </a:r>
          </a:p>
          <a:p>
            <a:pPr marL="114300" indent="0" algn="just">
              <a:buNone/>
            </a:pPr>
            <a:r>
              <a:rPr lang="en-US" dirty="0"/>
              <a:t>3. </a:t>
            </a:r>
            <a:r>
              <a:rPr lang="en-US" b="1" dirty="0"/>
              <a:t>Digital Arrest: </a:t>
            </a:r>
            <a:r>
              <a:rPr lang="en-US" dirty="0"/>
              <a:t>Fake police officers threaten digital arrest or online interrogation.    - 	Reality: Police don't conduct digital arrests or online interrogations.</a:t>
            </a:r>
            <a:endParaRPr lang="en-IN" dirty="0"/>
          </a:p>
        </p:txBody>
      </p:sp>
    </p:spTree>
    <p:extLst>
      <p:ext uri="{BB962C8B-B14F-4D97-AF65-F5344CB8AC3E}">
        <p14:creationId xmlns:p14="http://schemas.microsoft.com/office/powerpoint/2010/main" val="844777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CFACFD-E12B-366F-0095-50166EA2570C}"/>
              </a:ext>
            </a:extLst>
          </p:cNvPr>
          <p:cNvSpPr>
            <a:spLocks noGrp="1"/>
          </p:cNvSpPr>
          <p:nvPr>
            <p:ph type="body" idx="1"/>
          </p:nvPr>
        </p:nvSpPr>
        <p:spPr>
          <a:xfrm>
            <a:off x="311700" y="410705"/>
            <a:ext cx="8520600" cy="4158170"/>
          </a:xfrm>
        </p:spPr>
        <p:txBody>
          <a:bodyPr>
            <a:normAutofit fontScale="85000" lnSpcReduction="20000"/>
          </a:bodyPr>
          <a:lstStyle/>
          <a:p>
            <a:pPr marL="114300" indent="0" algn="just">
              <a:buNone/>
            </a:pPr>
            <a:r>
              <a:rPr lang="en-US" dirty="0"/>
              <a:t>4. </a:t>
            </a:r>
            <a:r>
              <a:rPr lang="en-US" b="1" dirty="0"/>
              <a:t>Family Member Arrested: </a:t>
            </a:r>
            <a:r>
              <a:rPr lang="en-US" dirty="0"/>
              <a:t>Scammers claim a relative will be arrested and demand payment.    - </a:t>
            </a:r>
          </a:p>
          <a:p>
            <a:pPr marL="114300" indent="0" algn="just">
              <a:buNone/>
            </a:pPr>
            <a:r>
              <a:rPr lang="en-US" dirty="0"/>
              <a:t>	Action: Verify with family members before taking action.</a:t>
            </a:r>
          </a:p>
          <a:p>
            <a:pPr marL="114300" indent="0" algn="just">
              <a:buNone/>
            </a:pPr>
            <a:r>
              <a:rPr lang="en-US" b="1" dirty="0"/>
              <a:t>5</a:t>
            </a:r>
            <a:r>
              <a:rPr lang="en-US" dirty="0"/>
              <a:t>. </a:t>
            </a:r>
            <a:r>
              <a:rPr lang="en-US" b="1" dirty="0"/>
              <a:t>Get Rich Quick Trading: </a:t>
            </a:r>
            <a:r>
              <a:rPr lang="en-US" dirty="0"/>
              <a:t>Social media ads promise high returns on stock investments.    - </a:t>
            </a:r>
          </a:p>
          <a:p>
            <a:pPr marL="114300" indent="0" algn="just">
              <a:buNone/>
            </a:pPr>
            <a:r>
              <a:rPr lang="en-US" dirty="0"/>
              <a:t>	Reality: High-return schemes are likely scams.</a:t>
            </a:r>
          </a:p>
          <a:p>
            <a:pPr marL="114300" indent="0" algn="just">
              <a:buNone/>
            </a:pPr>
            <a:r>
              <a:rPr lang="en-US" dirty="0"/>
              <a:t>6. </a:t>
            </a:r>
            <a:r>
              <a:rPr lang="en-US" b="1" dirty="0"/>
              <a:t>Easy Tasks for Big Rewards: </a:t>
            </a:r>
            <a:r>
              <a:rPr lang="en-US" dirty="0"/>
              <a:t>Scammers offer high sums for simple tasks, then ask for investment.    - </a:t>
            </a:r>
          </a:p>
          <a:p>
            <a:pPr marL="114300" indent="0" algn="just">
              <a:buNone/>
            </a:pPr>
            <a:r>
              <a:rPr lang="en-US" dirty="0"/>
              <a:t>	Reality: Easy money schemes are scams.</a:t>
            </a:r>
          </a:p>
          <a:p>
            <a:pPr marL="114300" indent="0" algn="just">
              <a:buNone/>
            </a:pPr>
            <a:r>
              <a:rPr lang="en-US" b="1" dirty="0"/>
              <a:t>7. Credit Card Issued in Your Name: </a:t>
            </a:r>
            <a:r>
              <a:rPr lang="en-US" dirty="0"/>
              <a:t>Fake executives confirm large transactions on bogus credit cards.    - </a:t>
            </a:r>
          </a:p>
          <a:p>
            <a:pPr marL="114300" indent="0" algn="just">
              <a:buNone/>
            </a:pPr>
            <a:r>
              <a:rPr lang="en-US" dirty="0"/>
              <a:t>	Action: Check with your bank.</a:t>
            </a:r>
          </a:p>
          <a:p>
            <a:pPr marL="114300" indent="0" algn="just">
              <a:buNone/>
            </a:pPr>
            <a:r>
              <a:rPr lang="en-US" b="1" dirty="0"/>
              <a:t>8. Mistaken Money Transfer: </a:t>
            </a:r>
            <a:r>
              <a:rPr lang="en-US" dirty="0"/>
              <a:t>Scammers claim incorrect transactions and ask for refunds. </a:t>
            </a:r>
          </a:p>
          <a:p>
            <a:pPr marL="114300" indent="0" algn="just">
              <a:buNone/>
            </a:pPr>
            <a:r>
              <a:rPr lang="en-US" dirty="0"/>
              <a:t>	 Action: Verify transactions with your bank.</a:t>
            </a:r>
          </a:p>
          <a:p>
            <a:pPr marL="114300" indent="0" algn="just">
              <a:buNone/>
            </a:pPr>
            <a:r>
              <a:rPr lang="en-US" b="1" dirty="0"/>
              <a:t>9. KYC Expired: </a:t>
            </a:r>
            <a:r>
              <a:rPr lang="en-US" dirty="0"/>
              <a:t>Scammers</a:t>
            </a:r>
            <a:r>
              <a:rPr lang="en-US" b="1" dirty="0"/>
              <a:t> </a:t>
            </a:r>
            <a:r>
              <a:rPr lang="en-US" dirty="0"/>
              <a:t>ask for KYC updates via links.    - </a:t>
            </a:r>
          </a:p>
          <a:p>
            <a:pPr marL="114300" indent="0" algn="just">
              <a:buNone/>
            </a:pPr>
            <a:r>
              <a:rPr lang="en-US" dirty="0"/>
              <a:t>	Reality: Banks require in-person KYC updates.</a:t>
            </a:r>
          </a:p>
          <a:p>
            <a:pPr marL="114300" indent="0" algn="just">
              <a:buNone/>
            </a:pPr>
            <a:r>
              <a:rPr lang="en-US" b="1" dirty="0"/>
              <a:t>10. Generous Tax Refund: </a:t>
            </a:r>
            <a:r>
              <a:rPr lang="en-US" dirty="0"/>
              <a:t>Fraudsters pose as tax officials, asking for bank details.   </a:t>
            </a:r>
          </a:p>
          <a:p>
            <a:pPr marL="114300" indent="0" algn="just">
              <a:buNone/>
            </a:pPr>
            <a:r>
              <a:rPr lang="en-US" dirty="0"/>
              <a:t>	 Reality: Tax departments already have bank details and communicate directly.</a:t>
            </a:r>
            <a:endParaRPr lang="en-IN" dirty="0"/>
          </a:p>
        </p:txBody>
      </p:sp>
    </p:spTree>
    <p:extLst>
      <p:ext uri="{BB962C8B-B14F-4D97-AF65-F5344CB8AC3E}">
        <p14:creationId xmlns:p14="http://schemas.microsoft.com/office/powerpoint/2010/main" val="939882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5F335-EA56-5E88-BBF6-69B4FF9F310A}"/>
              </a:ext>
            </a:extLst>
          </p:cNvPr>
          <p:cNvSpPr>
            <a:spLocks noGrp="1"/>
          </p:cNvSpPr>
          <p:nvPr>
            <p:ph type="title"/>
          </p:nvPr>
        </p:nvSpPr>
        <p:spPr/>
        <p:txBody>
          <a:bodyPr>
            <a:normAutofit fontScale="90000"/>
          </a:bodyPr>
          <a:lstStyle/>
          <a:p>
            <a:r>
              <a:rPr lang="en-IN" dirty="0"/>
              <a:t>Stay Safe:</a:t>
            </a:r>
          </a:p>
        </p:txBody>
      </p:sp>
      <p:sp>
        <p:nvSpPr>
          <p:cNvPr id="3" name="Text Placeholder 2">
            <a:extLst>
              <a:ext uri="{FF2B5EF4-FFF2-40B4-BE49-F238E27FC236}">
                <a16:creationId xmlns:a16="http://schemas.microsoft.com/office/drawing/2014/main" id="{824DCECB-F905-B374-0276-1E2F11137A2A}"/>
              </a:ext>
            </a:extLst>
          </p:cNvPr>
          <p:cNvSpPr>
            <a:spLocks noGrp="1"/>
          </p:cNvSpPr>
          <p:nvPr>
            <p:ph type="body" idx="1"/>
          </p:nvPr>
        </p:nvSpPr>
        <p:spPr/>
        <p:txBody>
          <a:bodyPr/>
          <a:lstStyle/>
          <a:p>
            <a:r>
              <a:rPr lang="en-IN" dirty="0"/>
              <a:t>1. Verify information before acting.</a:t>
            </a:r>
          </a:p>
          <a:p>
            <a:r>
              <a:rPr lang="en-IN" dirty="0"/>
              <a:t>2. Don't click suspicious links.</a:t>
            </a:r>
          </a:p>
          <a:p>
            <a:r>
              <a:rPr lang="en-IN" dirty="0"/>
              <a:t>3. Confirm transactions with banks.</a:t>
            </a:r>
          </a:p>
          <a:p>
            <a:r>
              <a:rPr lang="en-IN" dirty="0"/>
              <a:t>4. Report suspicious calls/numbers.</a:t>
            </a:r>
          </a:p>
          <a:p>
            <a:r>
              <a:rPr lang="en-IN" dirty="0"/>
              <a:t>5. Be cautious of high-return schemes.</a:t>
            </a:r>
          </a:p>
          <a:p>
            <a:r>
              <a:rPr lang="en-IN" dirty="0"/>
              <a:t>6. Update KYC in-person.</a:t>
            </a:r>
          </a:p>
          <a:p>
            <a:r>
              <a:rPr lang="en-IN" dirty="0"/>
              <a:t>7. Don't share personal/bank details.</a:t>
            </a:r>
          </a:p>
        </p:txBody>
      </p:sp>
    </p:spTree>
    <p:extLst>
      <p:ext uri="{BB962C8B-B14F-4D97-AF65-F5344CB8AC3E}">
        <p14:creationId xmlns:p14="http://schemas.microsoft.com/office/powerpoint/2010/main" val="1564067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89701-9DD6-6D56-2F9B-70350A2A89A6}"/>
              </a:ext>
            </a:extLst>
          </p:cNvPr>
          <p:cNvSpPr>
            <a:spLocks noGrp="1"/>
          </p:cNvSpPr>
          <p:nvPr>
            <p:ph type="title"/>
          </p:nvPr>
        </p:nvSpPr>
        <p:spPr/>
        <p:txBody>
          <a:bodyPr>
            <a:normAutofit fontScale="90000"/>
          </a:bodyPr>
          <a:lstStyle/>
          <a:p>
            <a:r>
              <a:rPr lang="en-IN" dirty="0"/>
              <a:t>Report Scams:</a:t>
            </a:r>
          </a:p>
        </p:txBody>
      </p:sp>
      <p:sp>
        <p:nvSpPr>
          <p:cNvPr id="3" name="Text Placeholder 2">
            <a:extLst>
              <a:ext uri="{FF2B5EF4-FFF2-40B4-BE49-F238E27FC236}">
                <a16:creationId xmlns:a16="http://schemas.microsoft.com/office/drawing/2014/main" id="{A7FC3DAB-8A2C-D401-C64F-84E9212E21C0}"/>
              </a:ext>
            </a:extLst>
          </p:cNvPr>
          <p:cNvSpPr>
            <a:spLocks noGrp="1"/>
          </p:cNvSpPr>
          <p:nvPr>
            <p:ph type="body" idx="1"/>
          </p:nvPr>
        </p:nvSpPr>
        <p:spPr/>
        <p:txBody>
          <a:bodyPr/>
          <a:lstStyle/>
          <a:p>
            <a:r>
              <a:rPr lang="en-IN" dirty="0"/>
              <a:t>1: GOI Chakshu portal @ </a:t>
            </a:r>
            <a:r>
              <a:rPr lang="en-IN" dirty="0">
                <a:hlinkClick r:id="rId2"/>
              </a:rPr>
              <a:t>https://sancharsaathi.gov.in/sfc/</a:t>
            </a:r>
            <a:endParaRPr lang="en-IN" dirty="0"/>
          </a:p>
          <a:p>
            <a:pPr marL="114300" indent="0">
              <a:buNone/>
            </a:pPr>
            <a:endParaRPr lang="en-IN" dirty="0"/>
          </a:p>
          <a:p>
            <a:r>
              <a:rPr lang="en-IN" dirty="0"/>
              <a:t>2a. National Consumer Helpline (1800-11-4000)</a:t>
            </a:r>
          </a:p>
          <a:p>
            <a:r>
              <a:rPr lang="en-IN" dirty="0"/>
              <a:t>2b. Cyber Crime Reporting Portal (cybercrime.gov.in)</a:t>
            </a:r>
          </a:p>
          <a:p>
            <a:pPr marL="114300" indent="0">
              <a:buNone/>
            </a:pPr>
            <a:endParaRPr lang="en-IN" dirty="0"/>
          </a:p>
          <a:p>
            <a:r>
              <a:rPr lang="en-IN" dirty="0"/>
              <a:t>3. Local Police Station</a:t>
            </a:r>
          </a:p>
          <a:p>
            <a:endParaRPr lang="en-IN" dirty="0"/>
          </a:p>
          <a:p>
            <a:pPr marL="114300" indent="0" algn="ctr">
              <a:buNone/>
            </a:pPr>
            <a:r>
              <a:rPr lang="en-IN" b="1" dirty="0"/>
              <a:t>Stay informed, stay vigilant!</a:t>
            </a:r>
          </a:p>
          <a:p>
            <a:endParaRPr lang="en-IN" dirty="0"/>
          </a:p>
        </p:txBody>
      </p:sp>
    </p:spTree>
    <p:extLst>
      <p:ext uri="{BB962C8B-B14F-4D97-AF65-F5344CB8AC3E}">
        <p14:creationId xmlns:p14="http://schemas.microsoft.com/office/powerpoint/2010/main" val="2552072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5D9F-8DFC-7A46-D3B1-1A07D190CCAF}"/>
              </a:ext>
            </a:extLst>
          </p:cNvPr>
          <p:cNvSpPr>
            <a:spLocks noGrp="1"/>
          </p:cNvSpPr>
          <p:nvPr>
            <p:ph type="title"/>
          </p:nvPr>
        </p:nvSpPr>
        <p:spPr>
          <a:xfrm>
            <a:off x="490249" y="450150"/>
            <a:ext cx="8351533" cy="4524806"/>
          </a:xfrm>
        </p:spPr>
        <p:txBody>
          <a:bodyPr/>
          <a:lstStyle/>
          <a:p>
            <a:endParaRPr lang="en-IN" dirty="0"/>
          </a:p>
        </p:txBody>
      </p:sp>
      <p:pic>
        <p:nvPicPr>
          <p:cNvPr id="4" name="Picture 3">
            <a:extLst>
              <a:ext uri="{FF2B5EF4-FFF2-40B4-BE49-F238E27FC236}">
                <a16:creationId xmlns:a16="http://schemas.microsoft.com/office/drawing/2014/main" id="{A97AFFBF-121E-BB0C-63DC-EA3DC8E80AD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072293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7FAF-0492-1363-221B-F85EE145E7B3}"/>
              </a:ext>
            </a:extLst>
          </p:cNvPr>
          <p:cNvSpPr>
            <a:spLocks noGrp="1"/>
          </p:cNvSpPr>
          <p:nvPr>
            <p:ph type="title"/>
          </p:nvPr>
        </p:nvSpPr>
        <p:spPr/>
        <p:txBody>
          <a:bodyPr/>
          <a:lstStyle/>
          <a:p>
            <a:endParaRPr lang="en-IN" dirty="0"/>
          </a:p>
        </p:txBody>
      </p:sp>
      <p:pic>
        <p:nvPicPr>
          <p:cNvPr id="4" name="Picture 3">
            <a:extLst>
              <a:ext uri="{FF2B5EF4-FFF2-40B4-BE49-F238E27FC236}">
                <a16:creationId xmlns:a16="http://schemas.microsoft.com/office/drawing/2014/main" id="{E5625D0E-214A-9749-5109-E9572E56165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65249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A81D5-B555-8BC1-17D5-31FA01A63CDC}"/>
              </a:ext>
            </a:extLst>
          </p:cNvPr>
          <p:cNvSpPr>
            <a:spLocks noGrp="1"/>
          </p:cNvSpPr>
          <p:nvPr>
            <p:ph type="title"/>
          </p:nvPr>
        </p:nvSpPr>
        <p:spPr/>
        <p:txBody>
          <a:bodyPr/>
          <a:lstStyle/>
          <a:p>
            <a:r>
              <a:rPr lang="en-IN" dirty="0">
                <a:hlinkClick r:id="rId2" action="ppaction://hlinkfile"/>
              </a:rPr>
              <a:t>Financial Fraud Brochures final.pdf</a:t>
            </a:r>
            <a:endParaRPr lang="en-IN" dirty="0"/>
          </a:p>
        </p:txBody>
      </p:sp>
    </p:spTree>
    <p:extLst>
      <p:ext uri="{BB962C8B-B14F-4D97-AF65-F5344CB8AC3E}">
        <p14:creationId xmlns:p14="http://schemas.microsoft.com/office/powerpoint/2010/main" val="2550623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Botnet: The fuel of Cybercrime</a:t>
            </a:r>
            <a:endParaRPr/>
          </a:p>
        </p:txBody>
      </p:sp>
      <p:sp>
        <p:nvSpPr>
          <p:cNvPr id="177" name="Google Shape;177;p35"/>
          <p:cNvSpPr txBox="1">
            <a:spLocks noGrp="1"/>
          </p:cNvSpPr>
          <p:nvPr>
            <p:ph type="body" idx="1"/>
          </p:nvPr>
        </p:nvSpPr>
        <p:spPr>
          <a:xfrm>
            <a:off x="311700" y="980775"/>
            <a:ext cx="4767300" cy="4041000"/>
          </a:xfrm>
          <a:prstGeom prst="rect">
            <a:avLst/>
          </a:prstGeom>
        </p:spPr>
        <p:txBody>
          <a:bodyPr spcFirstLastPara="1" wrap="square" lIns="91425" tIns="91425" rIns="91425" bIns="91425" anchor="t" anchorCtr="0">
            <a:normAutofit/>
          </a:bodyPr>
          <a:lstStyle/>
          <a:p>
            <a:pPr marL="285750" lvl="0" indent="-285750" algn="l" rtl="0">
              <a:lnSpc>
                <a:spcPct val="10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A Botnet (also called as zombie network) is a network of computers infected with a malicious program that allows cybercriminals to control the infected machines remotely without the users’ knowledge. </a:t>
            </a:r>
            <a:endParaRPr sz="1600" dirty="0">
              <a:solidFill>
                <a:schemeClr val="dk1"/>
              </a:solidFill>
              <a:latin typeface="Calibri"/>
              <a:ea typeface="Calibri"/>
              <a:cs typeface="Calibri"/>
              <a:sym typeface="Calibri"/>
            </a:endParaRPr>
          </a:p>
          <a:p>
            <a:pPr marL="285750" lvl="0" indent="-285750" algn="l" rtl="0">
              <a:lnSpc>
                <a:spcPct val="10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Your computer system maybe a part of a Botnet even though it appears to be operating normally. </a:t>
            </a:r>
            <a:endParaRPr sz="1600" dirty="0">
              <a:solidFill>
                <a:schemeClr val="dk1"/>
              </a:solidFill>
              <a:latin typeface="Calibri"/>
              <a:ea typeface="Calibri"/>
              <a:cs typeface="Calibri"/>
              <a:sym typeface="Calibri"/>
            </a:endParaRPr>
          </a:p>
          <a:p>
            <a:pPr marL="285750" lvl="0" indent="-285750" algn="l" rtl="0">
              <a:lnSpc>
                <a:spcPct val="10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Botnets are often used to conduct a range of activities, from distributing Spam and viruses to conducting denial-of-service (DoS) attacks. </a:t>
            </a:r>
            <a:endParaRPr sz="1400" dirty="0">
              <a:solidFill>
                <a:schemeClr val="dk1"/>
              </a:solidFill>
            </a:endParaRPr>
          </a:p>
          <a:p>
            <a:pPr marL="0" lvl="0" indent="0" algn="just" rtl="0">
              <a:lnSpc>
                <a:spcPct val="100000"/>
              </a:lnSpc>
              <a:spcBef>
                <a:spcPts val="0"/>
              </a:spcBef>
              <a:spcAft>
                <a:spcPts val="0"/>
              </a:spcAft>
              <a:buNone/>
            </a:pPr>
            <a:endParaRPr sz="1400" b="1"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r>
              <a:rPr lang="en" sz="1400" b="1" dirty="0">
                <a:solidFill>
                  <a:schemeClr val="dk1"/>
                </a:solidFill>
                <a:latin typeface="Times New Roman"/>
                <a:ea typeface="Times New Roman"/>
                <a:cs typeface="Times New Roman"/>
                <a:sym typeface="Times New Roman"/>
              </a:rPr>
              <a:t>Evolution of Botnets</a:t>
            </a:r>
            <a:endParaRPr sz="1400" b="1" dirty="0">
              <a:solidFill>
                <a:schemeClr val="dk1"/>
              </a:solidFill>
              <a:latin typeface="Times New Roman"/>
              <a:ea typeface="Times New Roman"/>
              <a:cs typeface="Times New Roman"/>
              <a:sym typeface="Times New Roman"/>
            </a:endParaRPr>
          </a:p>
          <a:p>
            <a:pPr marL="457200" lvl="0" indent="-317500" algn="just" rtl="0">
              <a:lnSpc>
                <a:spcPct val="100000"/>
              </a:lnSpc>
              <a:spcBef>
                <a:spcPts val="0"/>
              </a:spcBef>
              <a:spcAft>
                <a:spcPts val="0"/>
              </a:spcAft>
              <a:buClr>
                <a:schemeClr val="dk1"/>
              </a:buClr>
              <a:buSzPts val="1400"/>
              <a:buFont typeface="Times New Roman"/>
              <a:buChar char="•"/>
            </a:pPr>
            <a:r>
              <a:rPr lang="en" sz="1400" dirty="0">
                <a:solidFill>
                  <a:schemeClr val="dk1"/>
                </a:solidFill>
                <a:latin typeface="Times New Roman"/>
                <a:ea typeface="Times New Roman"/>
                <a:cs typeface="Times New Roman"/>
                <a:sym typeface="Times New Roman"/>
              </a:rPr>
              <a:t>Motivation change in computer hacking</a:t>
            </a:r>
            <a:endParaRPr sz="1400" dirty="0">
              <a:solidFill>
                <a:schemeClr val="dk1"/>
              </a:solidFill>
              <a:latin typeface="Times New Roman"/>
              <a:ea typeface="Times New Roman"/>
              <a:cs typeface="Times New Roman"/>
              <a:sym typeface="Times New Roman"/>
            </a:endParaRPr>
          </a:p>
          <a:p>
            <a:pPr marL="914400" lvl="1" indent="-317500" algn="just" rtl="0">
              <a:lnSpc>
                <a:spcPct val="100000"/>
              </a:lnSpc>
              <a:spcBef>
                <a:spcPts val="0"/>
              </a:spcBef>
              <a:spcAft>
                <a:spcPts val="0"/>
              </a:spcAft>
              <a:buClr>
                <a:schemeClr val="dk1"/>
              </a:buClr>
              <a:buSzPts val="1400"/>
              <a:buFont typeface="Times New Roman"/>
              <a:buChar char="–"/>
            </a:pPr>
            <a:r>
              <a:rPr lang="en" dirty="0">
                <a:solidFill>
                  <a:schemeClr val="dk1"/>
                </a:solidFill>
                <a:latin typeface="Times New Roman"/>
                <a:ea typeface="Times New Roman"/>
                <a:cs typeface="Times New Roman"/>
                <a:sym typeface="Times New Roman"/>
              </a:rPr>
              <a:t>Vandalism </a:t>
            </a:r>
          </a:p>
          <a:p>
            <a:pPr marL="914400" lvl="1" indent="-317500" algn="just" rtl="0">
              <a:lnSpc>
                <a:spcPct val="100000"/>
              </a:lnSpc>
              <a:spcBef>
                <a:spcPts val="0"/>
              </a:spcBef>
              <a:spcAft>
                <a:spcPts val="0"/>
              </a:spcAft>
              <a:buClr>
                <a:schemeClr val="dk1"/>
              </a:buClr>
              <a:buSzPts val="1400"/>
              <a:buFont typeface="Times New Roman"/>
              <a:buChar char="–"/>
            </a:pPr>
            <a:r>
              <a:rPr lang="en" dirty="0">
                <a:solidFill>
                  <a:schemeClr val="dk1"/>
                </a:solidFill>
                <a:latin typeface="Times New Roman"/>
                <a:ea typeface="Times New Roman"/>
                <a:cs typeface="Times New Roman"/>
                <a:sym typeface="Times New Roman"/>
              </a:rPr>
              <a:t> Financial gains</a:t>
            </a:r>
            <a:endParaRPr dirty="0">
              <a:solidFill>
                <a:schemeClr val="dk1"/>
              </a:solidFill>
              <a:latin typeface="Times New Roman"/>
              <a:ea typeface="Times New Roman"/>
              <a:cs typeface="Times New Roman"/>
              <a:sym typeface="Times New Roman"/>
            </a:endParaRPr>
          </a:p>
        </p:txBody>
      </p:sp>
      <p:pic>
        <p:nvPicPr>
          <p:cNvPr id="178" name="Google Shape;178;p35" descr="https://upload.wikimedia.org/wikipedia/commons/thumb/c/c6/Botnet.svg/2000px-Botnet.svg.png"/>
          <p:cNvPicPr preferRelativeResize="0"/>
          <p:nvPr/>
        </p:nvPicPr>
        <p:blipFill>
          <a:blip r:embed="rId3">
            <a:alphaModFix/>
          </a:blip>
          <a:stretch>
            <a:fillRect/>
          </a:stretch>
        </p:blipFill>
        <p:spPr>
          <a:xfrm>
            <a:off x="5129200" y="101650"/>
            <a:ext cx="3909275" cy="44672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6"/>
          <p:cNvSpPr txBox="1">
            <a:spLocks noGrp="1"/>
          </p:cNvSpPr>
          <p:nvPr>
            <p:ph type="title"/>
          </p:nvPr>
        </p:nvSpPr>
        <p:spPr>
          <a:xfrm>
            <a:off x="34747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botnets creates the business</a:t>
            </a:r>
            <a:endParaRPr/>
          </a:p>
        </p:txBody>
      </p:sp>
      <p:pic>
        <p:nvPicPr>
          <p:cNvPr id="184" name="Google Shape;184;p36"/>
          <p:cNvPicPr preferRelativeResize="0"/>
          <p:nvPr/>
        </p:nvPicPr>
        <p:blipFill>
          <a:blip r:embed="rId3">
            <a:alphaModFix/>
          </a:blip>
          <a:stretch>
            <a:fillRect/>
          </a:stretch>
        </p:blipFill>
        <p:spPr>
          <a:xfrm>
            <a:off x="1100138" y="495300"/>
            <a:ext cx="6943725" cy="4152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7"/>
          <p:cNvSpPr txBox="1">
            <a:spLocks noGrp="1"/>
          </p:cNvSpPr>
          <p:nvPr>
            <p:ph type="body" idx="1"/>
          </p:nvPr>
        </p:nvSpPr>
        <p:spPr>
          <a:xfrm>
            <a:off x="347475" y="863550"/>
            <a:ext cx="85206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One can ensure following to secure the system:</a:t>
            </a:r>
            <a:endParaRPr sz="1400"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Use antivirus and anti-Spyware software and keep it up-to-date.</a:t>
            </a:r>
            <a:endParaRPr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Set the OS to download and install security patches automatically.</a:t>
            </a:r>
            <a:endParaRPr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Use a firewall to protect the system from hacking attacks while it is connected on the Internet.</a:t>
            </a:r>
            <a:endParaRPr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Disconnect from the Internet when you are away from your computer.</a:t>
            </a:r>
            <a:endParaRPr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Downloading the freeware only from websites that are known and trustworthy</a:t>
            </a:r>
            <a:endParaRPr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Check regularly the folders in the mail box – “sent items” or “outgoing” – for those messages you did not send.</a:t>
            </a:r>
            <a:endParaRPr dirty="0">
              <a:solidFill>
                <a:schemeClr val="dk1"/>
              </a:solidFill>
            </a:endParaRPr>
          </a:p>
          <a:p>
            <a:pPr marL="685800" lvl="1"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Take an immediate action if your system is infected.</a:t>
            </a:r>
            <a:endParaRPr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0"/>
          <p:cNvSpPr txBox="1">
            <a:spLocks noGrp="1"/>
          </p:cNvSpPr>
          <p:nvPr>
            <p:ph type="title"/>
          </p:nvPr>
        </p:nvSpPr>
        <p:spPr>
          <a:xfrm>
            <a:off x="347475" y="94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Cloud Security</a:t>
            </a:r>
            <a:endParaRPr dirty="0"/>
          </a:p>
        </p:txBody>
      </p:sp>
      <p:sp>
        <p:nvSpPr>
          <p:cNvPr id="206" name="Google Shape;206;p40"/>
          <p:cNvSpPr txBox="1">
            <a:spLocks noGrp="1"/>
          </p:cNvSpPr>
          <p:nvPr>
            <p:ph type="body" idx="1"/>
          </p:nvPr>
        </p:nvSpPr>
        <p:spPr>
          <a:xfrm>
            <a:off x="193150" y="565875"/>
            <a:ext cx="8834700" cy="4356000"/>
          </a:xfrm>
          <a:prstGeom prst="rect">
            <a:avLst/>
          </a:prstGeom>
        </p:spPr>
        <p:txBody>
          <a:bodyPr spcFirstLastPara="1" wrap="square" lIns="91425" tIns="91425" rIns="91425" bIns="91425" anchor="t" anchorCtr="0">
            <a:normAutofit fontScale="92500" lnSpcReduction="20000"/>
          </a:bodyPr>
          <a:lstStyle/>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Cloud computing services, while offering considerable benefits and cost savings makes it easier for cybercriminals to attack these systems. </a:t>
            </a:r>
            <a:endParaRPr sz="1400" dirty="0">
              <a:solidFill>
                <a:schemeClr val="dk1"/>
              </a:solidFill>
            </a:endParaRPr>
          </a:p>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Cloud computing is Internet (“cloud”)-based development and use of computer technology (“ computing”). </a:t>
            </a:r>
            <a:endParaRPr sz="1400" dirty="0">
              <a:solidFill>
                <a:schemeClr val="dk1"/>
              </a:solidFill>
            </a:endParaRPr>
          </a:p>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 A cloud service has three distinct characteristics which differentiate it from traditional</a:t>
            </a:r>
            <a:endParaRPr sz="1400" dirty="0">
              <a:solidFill>
                <a:schemeClr val="dk1"/>
              </a:solidFill>
            </a:endParaRPr>
          </a:p>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hosting:</a:t>
            </a:r>
            <a:endParaRPr sz="1400" dirty="0">
              <a:solidFill>
                <a:schemeClr val="dk1"/>
              </a:solidFill>
            </a:endParaRPr>
          </a:p>
          <a:p>
            <a:pPr marL="342900" lvl="0" indent="-335280" algn="l" rtl="0">
              <a:lnSpc>
                <a:spcPct val="100000"/>
              </a:lnSpc>
              <a:spcBef>
                <a:spcPts val="0"/>
              </a:spcBef>
              <a:spcAft>
                <a:spcPts val="0"/>
              </a:spcAft>
              <a:buClr>
                <a:schemeClr val="dk1"/>
              </a:buClr>
              <a:buSzPct val="100000"/>
              <a:buFont typeface="Calibri"/>
              <a:buAutoNum type="arabicPeriod"/>
            </a:pPr>
            <a:r>
              <a:rPr lang="en" sz="1600" dirty="0">
                <a:solidFill>
                  <a:schemeClr val="dk1"/>
                </a:solidFill>
                <a:latin typeface="Calibri"/>
                <a:ea typeface="Calibri"/>
                <a:cs typeface="Calibri"/>
                <a:sym typeface="Calibri"/>
              </a:rPr>
              <a:t>It is sold on demand </a:t>
            </a:r>
            <a:endParaRPr sz="1600" dirty="0">
              <a:solidFill>
                <a:schemeClr val="dk1"/>
              </a:solidFill>
              <a:latin typeface="Calibri"/>
              <a:ea typeface="Calibri"/>
              <a:cs typeface="Calibri"/>
              <a:sym typeface="Calibri"/>
            </a:endParaRPr>
          </a:p>
          <a:p>
            <a:pPr marL="342900" lvl="0" indent="-335280" algn="l" rtl="0">
              <a:lnSpc>
                <a:spcPct val="100000"/>
              </a:lnSpc>
              <a:spcBef>
                <a:spcPts val="0"/>
              </a:spcBef>
              <a:spcAft>
                <a:spcPts val="0"/>
              </a:spcAft>
              <a:buClr>
                <a:schemeClr val="dk1"/>
              </a:buClr>
              <a:buSzPct val="100000"/>
              <a:buFont typeface="Calibri"/>
              <a:buAutoNum type="arabicPeriod"/>
            </a:pPr>
            <a:r>
              <a:rPr lang="en" sz="1600" dirty="0">
                <a:solidFill>
                  <a:schemeClr val="dk1"/>
                </a:solidFill>
                <a:latin typeface="Calibri"/>
                <a:ea typeface="Calibri"/>
                <a:cs typeface="Calibri"/>
                <a:sym typeface="Calibri"/>
              </a:rPr>
              <a:t>it is elastic in terms of usage </a:t>
            </a:r>
            <a:endParaRPr sz="1600" dirty="0">
              <a:solidFill>
                <a:schemeClr val="dk1"/>
              </a:solidFill>
              <a:latin typeface="Calibri"/>
              <a:ea typeface="Calibri"/>
              <a:cs typeface="Calibri"/>
              <a:sym typeface="Calibri"/>
            </a:endParaRPr>
          </a:p>
          <a:p>
            <a:pPr marL="342900" lvl="0" indent="-335280" algn="l" rtl="0">
              <a:lnSpc>
                <a:spcPct val="100000"/>
              </a:lnSpc>
              <a:spcBef>
                <a:spcPts val="0"/>
              </a:spcBef>
              <a:spcAft>
                <a:spcPts val="0"/>
              </a:spcAft>
              <a:buClr>
                <a:schemeClr val="dk1"/>
              </a:buClr>
              <a:buSzPct val="100000"/>
              <a:buFont typeface="Calibri"/>
              <a:buAutoNum type="arabicPeriod"/>
            </a:pPr>
            <a:r>
              <a:rPr lang="en" sz="1600" dirty="0">
                <a:solidFill>
                  <a:schemeClr val="dk1"/>
                </a:solidFill>
                <a:latin typeface="Calibri"/>
                <a:ea typeface="Calibri"/>
                <a:cs typeface="Calibri"/>
                <a:sym typeface="Calibri"/>
              </a:rPr>
              <a:t>the service is fully managed by the provider.</a:t>
            </a:r>
            <a:endParaRPr sz="1400" dirty="0">
              <a:solidFill>
                <a:schemeClr val="dk1"/>
              </a:solidFill>
            </a:endParaRPr>
          </a:p>
          <a:p>
            <a:pPr marL="0" lvl="0" indent="0" algn="l" rtl="0">
              <a:lnSpc>
                <a:spcPct val="100000"/>
              </a:lnSpc>
              <a:spcBef>
                <a:spcPts val="0"/>
              </a:spcBef>
              <a:spcAft>
                <a:spcPts val="0"/>
              </a:spcAft>
              <a:buNone/>
            </a:pPr>
            <a:endParaRPr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b="1" dirty="0">
                <a:solidFill>
                  <a:schemeClr val="dk1"/>
                </a:solidFill>
                <a:latin typeface="Calibri"/>
                <a:ea typeface="Calibri"/>
                <a:cs typeface="Calibri"/>
                <a:sym typeface="Calibri"/>
              </a:rPr>
              <a:t>Advantages of Cloud Computing</a:t>
            </a:r>
            <a:endParaRPr sz="1400" dirty="0">
              <a:solidFill>
                <a:schemeClr val="dk1"/>
              </a:solidFill>
            </a:endParaRPr>
          </a:p>
          <a:p>
            <a:pPr marL="0" lvl="0" indent="0" algn="l" rtl="0">
              <a:lnSpc>
                <a:spcPct val="100000"/>
              </a:lnSpc>
              <a:spcBef>
                <a:spcPts val="0"/>
              </a:spcBef>
              <a:spcAft>
                <a:spcPts val="0"/>
              </a:spcAft>
              <a:buNone/>
            </a:pPr>
            <a:endParaRPr sz="8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dirty="0">
                <a:solidFill>
                  <a:schemeClr val="dk1"/>
                </a:solidFill>
                <a:latin typeface="Calibri"/>
                <a:ea typeface="Calibri"/>
                <a:cs typeface="Calibri"/>
                <a:sym typeface="Calibri"/>
              </a:rPr>
              <a:t>Cloud computing has following advantages:</a:t>
            </a:r>
            <a:endParaRPr sz="1400" dirty="0">
              <a:solidFill>
                <a:schemeClr val="dk1"/>
              </a:solidFill>
            </a:endParaRPr>
          </a:p>
          <a:p>
            <a:pPr marL="457200" lvl="0" indent="0" algn="l" rtl="0">
              <a:lnSpc>
                <a:spcPct val="100000"/>
              </a:lnSpc>
              <a:spcBef>
                <a:spcPts val="0"/>
              </a:spcBef>
              <a:spcAft>
                <a:spcPts val="0"/>
              </a:spcAft>
              <a:buNone/>
            </a:pPr>
            <a:r>
              <a:rPr lang="en" sz="1600" dirty="0">
                <a:solidFill>
                  <a:schemeClr val="dk1"/>
                </a:solidFill>
                <a:latin typeface="Calibri"/>
                <a:ea typeface="Calibri"/>
                <a:cs typeface="Calibri"/>
                <a:sym typeface="Calibri"/>
              </a:rPr>
              <a:t>1. Applications and data can be accessed from anywhere at any time. </a:t>
            </a:r>
            <a:endParaRPr sz="1400" dirty="0">
              <a:solidFill>
                <a:schemeClr val="dk1"/>
              </a:solidFill>
            </a:endParaRPr>
          </a:p>
          <a:p>
            <a:pPr marL="457200" lvl="0" indent="0" algn="l" rtl="0">
              <a:lnSpc>
                <a:spcPct val="100000"/>
              </a:lnSpc>
              <a:spcBef>
                <a:spcPts val="0"/>
              </a:spcBef>
              <a:spcAft>
                <a:spcPts val="0"/>
              </a:spcAft>
              <a:buNone/>
            </a:pPr>
            <a:r>
              <a:rPr lang="en" sz="1600" dirty="0">
                <a:solidFill>
                  <a:schemeClr val="dk1"/>
                </a:solidFill>
                <a:latin typeface="Calibri"/>
                <a:ea typeface="Calibri"/>
                <a:cs typeface="Calibri"/>
                <a:sym typeface="Calibri"/>
              </a:rPr>
              <a:t>2. It could bring hardware costs down. </a:t>
            </a:r>
            <a:endParaRPr sz="1400" dirty="0">
              <a:solidFill>
                <a:schemeClr val="dk1"/>
              </a:solidFill>
            </a:endParaRPr>
          </a:p>
          <a:p>
            <a:pPr marL="457200" lvl="0" indent="0" algn="l" rtl="0">
              <a:lnSpc>
                <a:spcPct val="100000"/>
              </a:lnSpc>
              <a:spcBef>
                <a:spcPts val="0"/>
              </a:spcBef>
              <a:spcAft>
                <a:spcPts val="0"/>
              </a:spcAft>
              <a:buNone/>
            </a:pPr>
            <a:r>
              <a:rPr lang="en" sz="1600" dirty="0">
                <a:solidFill>
                  <a:schemeClr val="dk1"/>
                </a:solidFill>
                <a:latin typeface="Calibri"/>
                <a:ea typeface="Calibri"/>
                <a:cs typeface="Calibri"/>
                <a:sym typeface="Calibri"/>
              </a:rPr>
              <a:t>3. Organizations do not have to buy a set of software or software licenses for every employee and the organizations could pay a  fee to a cloud computing company.</a:t>
            </a:r>
            <a:endParaRPr sz="1400" dirty="0">
              <a:solidFill>
                <a:schemeClr val="dk1"/>
              </a:solidFill>
            </a:endParaRPr>
          </a:p>
          <a:p>
            <a:pPr marL="457200" lvl="0" indent="0" algn="l" rtl="0">
              <a:lnSpc>
                <a:spcPct val="100000"/>
              </a:lnSpc>
              <a:spcBef>
                <a:spcPts val="0"/>
              </a:spcBef>
              <a:spcAft>
                <a:spcPts val="0"/>
              </a:spcAft>
              <a:buNone/>
            </a:pPr>
            <a:r>
              <a:rPr lang="en" sz="1600" dirty="0">
                <a:solidFill>
                  <a:schemeClr val="dk1"/>
                </a:solidFill>
                <a:latin typeface="Calibri"/>
                <a:ea typeface="Calibri"/>
                <a:cs typeface="Calibri"/>
                <a:sym typeface="Calibri"/>
              </a:rPr>
              <a:t>4. Organizations do not have to rent a physical space to store servers and databases. Servers and digital storage devices take up space. </a:t>
            </a:r>
            <a:endParaRPr sz="1400" dirty="0">
              <a:solidFill>
                <a:schemeClr val="dk1"/>
              </a:solidFill>
            </a:endParaRPr>
          </a:p>
          <a:p>
            <a:pPr marL="457200" lvl="0" indent="0" algn="l" rtl="0">
              <a:lnSpc>
                <a:spcPct val="100000"/>
              </a:lnSpc>
              <a:spcBef>
                <a:spcPts val="0"/>
              </a:spcBef>
              <a:spcAft>
                <a:spcPts val="0"/>
              </a:spcAft>
              <a:buNone/>
            </a:pPr>
            <a:r>
              <a:rPr lang="en" sz="1600" dirty="0">
                <a:solidFill>
                  <a:schemeClr val="dk1"/>
                </a:solidFill>
                <a:latin typeface="Calibri"/>
                <a:ea typeface="Calibri"/>
                <a:cs typeface="Calibri"/>
                <a:sym typeface="Calibri"/>
              </a:rPr>
              <a:t>5. Organizations would be able to save money on IT support because organizations will have to ensure about the desktop (i.e., a client) and continuous Internet connectivity instead of servers and other hardware.</a:t>
            </a:r>
            <a:endParaRPr sz="1400"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1"/>
          <p:cNvSpPr txBox="1">
            <a:spLocks noGrp="1"/>
          </p:cNvSpPr>
          <p:nvPr>
            <p:ph type="body" idx="1"/>
          </p:nvPr>
        </p:nvSpPr>
        <p:spPr>
          <a:xfrm>
            <a:off x="554961" y="408900"/>
            <a:ext cx="8034078" cy="4325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The cloud computing services can be either private or public. </a:t>
            </a:r>
            <a:endParaRPr sz="1600" dirty="0">
              <a:solidFill>
                <a:schemeClr val="dk1"/>
              </a:solidFill>
              <a:latin typeface="Calibri"/>
              <a:ea typeface="Calibri"/>
              <a:cs typeface="Calibri"/>
              <a:sym typeface="Calibri"/>
            </a:endParaRPr>
          </a:p>
          <a:p>
            <a:pPr marL="285750" lvl="0" indent="-285750" algn="l" rtl="0">
              <a:lnSpc>
                <a:spcPct val="10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A public cloud sells services to anyone on the Internet. </a:t>
            </a:r>
            <a:endParaRPr sz="1400" dirty="0">
              <a:solidFill>
                <a:schemeClr val="dk1"/>
              </a:solidFill>
            </a:endParaRPr>
          </a:p>
          <a:p>
            <a:pPr marL="285750" lvl="0" indent="-285750" algn="l" rtl="0">
              <a:lnSpc>
                <a:spcPct val="100000"/>
              </a:lnSpc>
              <a:spcBef>
                <a:spcPts val="0"/>
              </a:spcBef>
              <a:spcAft>
                <a:spcPts val="0"/>
              </a:spcAft>
              <a:buClr>
                <a:schemeClr val="dk1"/>
              </a:buClr>
              <a:buSzPts val="1600"/>
              <a:buFont typeface="Noto Sans Symbols"/>
              <a:buChar char="⮚"/>
            </a:pPr>
            <a:r>
              <a:rPr lang="en" sz="1600" dirty="0">
                <a:solidFill>
                  <a:schemeClr val="dk1"/>
                </a:solidFill>
                <a:latin typeface="Calibri"/>
                <a:ea typeface="Calibri"/>
                <a:cs typeface="Calibri"/>
                <a:sym typeface="Calibri"/>
              </a:rPr>
              <a:t>A private cloud is like a proprietary network or a data center that supplies the hosted services to a limited number of people. </a:t>
            </a:r>
            <a:endParaRPr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Font typeface="Arial"/>
              <a:buNone/>
            </a:pPr>
            <a:endParaRPr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Font typeface="Arial"/>
              <a:buNone/>
            </a:pPr>
            <a:r>
              <a:rPr lang="en" b="1" dirty="0">
                <a:solidFill>
                  <a:schemeClr val="dk1"/>
                </a:solidFill>
                <a:latin typeface="Calibri"/>
                <a:ea typeface="Calibri"/>
                <a:cs typeface="Calibri"/>
                <a:sym typeface="Calibri"/>
              </a:rPr>
              <a:t>Types of Services</a:t>
            </a:r>
            <a:endParaRPr sz="1400" dirty="0">
              <a:solidFill>
                <a:schemeClr val="dk1"/>
              </a:solidFill>
            </a:endParaRPr>
          </a:p>
          <a:p>
            <a:pPr marL="0" lvl="0" indent="0" algn="l" rtl="0">
              <a:lnSpc>
                <a:spcPct val="100000"/>
              </a:lnSpc>
              <a:spcBef>
                <a:spcPts val="0"/>
              </a:spcBef>
              <a:spcAft>
                <a:spcPts val="0"/>
              </a:spcAft>
              <a:buClr>
                <a:schemeClr val="dk1"/>
              </a:buClr>
              <a:buFont typeface="Arial"/>
              <a:buNone/>
            </a:pPr>
            <a:r>
              <a:rPr lang="en" sz="1600" dirty="0">
                <a:solidFill>
                  <a:schemeClr val="dk1"/>
                </a:solidFill>
                <a:latin typeface="Calibri"/>
                <a:ea typeface="Calibri"/>
                <a:cs typeface="Calibri"/>
                <a:sym typeface="Calibri"/>
              </a:rPr>
              <a:t>Services provided by cloud computing are as follows:</a:t>
            </a:r>
            <a:endParaRPr sz="1400" dirty="0">
              <a:solidFill>
                <a:schemeClr val="dk1"/>
              </a:solidFill>
            </a:endParaRPr>
          </a:p>
          <a:p>
            <a:pPr marL="228600" lvl="0"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Infrastructure-as-a-service (IaaS)</a:t>
            </a:r>
            <a:endParaRPr sz="1400" dirty="0">
              <a:solidFill>
                <a:schemeClr val="dk1"/>
              </a:solidFill>
            </a:endParaRPr>
          </a:p>
          <a:p>
            <a:pPr marL="228600" lvl="0"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Platform-as-a-service (PaaS)</a:t>
            </a:r>
            <a:endParaRPr sz="1400" dirty="0">
              <a:solidFill>
                <a:schemeClr val="dk1"/>
              </a:solidFill>
            </a:endParaRPr>
          </a:p>
          <a:p>
            <a:pPr marL="228600" lvl="0" indent="-228600" algn="l" rtl="0">
              <a:lnSpc>
                <a:spcPct val="100000"/>
              </a:lnSpc>
              <a:spcBef>
                <a:spcPts val="0"/>
              </a:spcBef>
              <a:spcAft>
                <a:spcPts val="0"/>
              </a:spcAft>
              <a:buClr>
                <a:schemeClr val="dk1"/>
              </a:buClr>
              <a:buSzPts val="1600"/>
              <a:buFont typeface="Calibri"/>
              <a:buAutoNum type="arabicPeriod"/>
            </a:pPr>
            <a:r>
              <a:rPr lang="en" sz="1600" dirty="0">
                <a:solidFill>
                  <a:schemeClr val="dk1"/>
                </a:solidFill>
                <a:latin typeface="Calibri"/>
                <a:ea typeface="Calibri"/>
                <a:cs typeface="Calibri"/>
                <a:sym typeface="Calibri"/>
              </a:rPr>
              <a:t>Software-as-a-service (SaaS)</a:t>
            </a:r>
            <a:endParaRPr sz="1600" dirty="0">
              <a:solidFill>
                <a:schemeClr val="dk1"/>
              </a:solidFill>
              <a:latin typeface="Calibri"/>
              <a:ea typeface="Calibri"/>
              <a:cs typeface="Calibri"/>
              <a:sym typeface="Calibri"/>
            </a:endParaRPr>
          </a:p>
          <a:p>
            <a:pPr marL="0" lvl="0" indent="0" algn="l" rtl="0">
              <a:spcBef>
                <a:spcPts val="0"/>
              </a:spcBef>
              <a:spcAft>
                <a:spcPts val="1200"/>
              </a:spcAft>
              <a:buNone/>
            </a:pP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EB3B0F-65CF-A260-B9C8-AD7AA6D74FCB}"/>
              </a:ext>
            </a:extLst>
          </p:cNvPr>
          <p:cNvPicPr>
            <a:picLocks noChangeAspect="1"/>
          </p:cNvPicPr>
          <p:nvPr/>
        </p:nvPicPr>
        <p:blipFill>
          <a:blip r:embed="rId2"/>
          <a:stretch>
            <a:fillRect/>
          </a:stretch>
        </p:blipFill>
        <p:spPr>
          <a:xfrm>
            <a:off x="240224" y="92990"/>
            <a:ext cx="8074617" cy="5050509"/>
          </a:xfrm>
          <a:prstGeom prst="rect">
            <a:avLst/>
          </a:prstGeom>
        </p:spPr>
      </p:pic>
    </p:spTree>
    <p:extLst>
      <p:ext uri="{BB962C8B-B14F-4D97-AF65-F5344CB8AC3E}">
        <p14:creationId xmlns:p14="http://schemas.microsoft.com/office/powerpoint/2010/main" val="12744806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2"/>
          <p:cNvSpPr txBox="1">
            <a:spLocks noGrp="1"/>
          </p:cNvSpPr>
          <p:nvPr>
            <p:ph type="body" idx="1"/>
          </p:nvPr>
        </p:nvSpPr>
        <p:spPr>
          <a:xfrm>
            <a:off x="539463" y="1089020"/>
            <a:ext cx="8344044" cy="3103271"/>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rgbClr val="000000"/>
              </a:buClr>
              <a:buFont typeface="Arial"/>
              <a:buNone/>
            </a:pPr>
            <a:r>
              <a:rPr lang="en" sz="2000" b="1" dirty="0">
                <a:solidFill>
                  <a:srgbClr val="000000"/>
                </a:solidFill>
                <a:latin typeface="Calibri"/>
                <a:ea typeface="Calibri"/>
                <a:cs typeface="Calibri"/>
                <a:sym typeface="Calibri"/>
              </a:rPr>
              <a:t>Cybercrime and Cloud Computing</a:t>
            </a:r>
            <a:endParaRPr sz="2000" dirty="0">
              <a:solidFill>
                <a:srgbClr val="000000"/>
              </a:solidFill>
            </a:endParaRPr>
          </a:p>
          <a:p>
            <a:pPr marL="0" lvl="0" indent="0" algn="l" rtl="0">
              <a:lnSpc>
                <a:spcPct val="100000"/>
              </a:lnSpc>
              <a:spcBef>
                <a:spcPts val="0"/>
              </a:spcBef>
              <a:spcAft>
                <a:spcPts val="0"/>
              </a:spcAft>
              <a:buClr>
                <a:srgbClr val="000000"/>
              </a:buClr>
              <a:buFont typeface="Arial"/>
              <a:buNone/>
            </a:pPr>
            <a:endParaRPr sz="1200" dirty="0">
              <a:solidFill>
                <a:srgbClr val="000000"/>
              </a:solidFill>
              <a:latin typeface="Calibri"/>
              <a:ea typeface="Calibri"/>
              <a:cs typeface="Calibri"/>
              <a:sym typeface="Calibri"/>
            </a:endParaRPr>
          </a:p>
          <a:p>
            <a:pPr marL="0" lvl="0" indent="0" algn="l" rtl="0">
              <a:lnSpc>
                <a:spcPct val="100000"/>
              </a:lnSpc>
              <a:spcBef>
                <a:spcPts val="0"/>
              </a:spcBef>
              <a:spcAft>
                <a:spcPts val="0"/>
              </a:spcAft>
              <a:buClr>
                <a:srgbClr val="000000"/>
              </a:buClr>
              <a:buFont typeface="Arial"/>
              <a:buNone/>
            </a:pPr>
            <a:r>
              <a:rPr lang="en" sz="1600" dirty="0">
                <a:solidFill>
                  <a:srgbClr val="000000"/>
                </a:solidFill>
                <a:latin typeface="Calibri"/>
                <a:ea typeface="Calibri"/>
                <a:cs typeface="Calibri"/>
                <a:sym typeface="Calibri"/>
              </a:rPr>
              <a:t>Prime area of the risk in cloud computing is protection of user data. </a:t>
            </a:r>
            <a:endParaRPr sz="1600" dirty="0">
              <a:solidFill>
                <a:srgbClr val="000000"/>
              </a:solidFill>
            </a:endParaRPr>
          </a:p>
          <a:p>
            <a:pPr marL="0" lvl="0" indent="0" algn="l" rtl="0">
              <a:lnSpc>
                <a:spcPct val="100000"/>
              </a:lnSpc>
              <a:spcBef>
                <a:spcPts val="0"/>
              </a:spcBef>
              <a:spcAft>
                <a:spcPts val="0"/>
              </a:spcAft>
              <a:buClr>
                <a:srgbClr val="000000"/>
              </a:buClr>
              <a:buFont typeface="Arial"/>
              <a:buNone/>
            </a:pPr>
            <a:r>
              <a:rPr lang="en" sz="1600" dirty="0">
                <a:solidFill>
                  <a:srgbClr val="000000"/>
                </a:solidFill>
                <a:latin typeface="Calibri"/>
                <a:ea typeface="Calibri"/>
                <a:cs typeface="Calibri"/>
                <a:sym typeface="Calibri"/>
              </a:rPr>
              <a:t>Table 2 shows the major areas of concerns in cloud computing domain. </a:t>
            </a:r>
            <a:endParaRPr sz="1600" dirty="0">
              <a:solidFill>
                <a:srgbClr val="000000"/>
              </a:solidFill>
              <a:latin typeface="Calibri"/>
              <a:ea typeface="Calibri"/>
              <a:cs typeface="Calibri"/>
              <a:sym typeface="Calibri"/>
            </a:endParaRPr>
          </a:p>
          <a:p>
            <a:pPr marL="0" lvl="0" indent="0" algn="l" rtl="0">
              <a:spcBef>
                <a:spcPts val="0"/>
              </a:spcBef>
              <a:spcAft>
                <a:spcPts val="1200"/>
              </a:spcAft>
              <a:buNone/>
            </a:pPr>
            <a:endParaRPr sz="1600" dirty="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98DFD9-6297-8CCE-3FA5-A6CF97CA7AE5}"/>
              </a:ext>
            </a:extLst>
          </p:cNvPr>
          <p:cNvPicPr>
            <a:picLocks noChangeAspect="1"/>
          </p:cNvPicPr>
          <p:nvPr/>
        </p:nvPicPr>
        <p:blipFill>
          <a:blip r:embed="rId2"/>
          <a:stretch>
            <a:fillRect/>
          </a:stretch>
        </p:blipFill>
        <p:spPr>
          <a:xfrm>
            <a:off x="503695" y="389192"/>
            <a:ext cx="8229599" cy="4624509"/>
          </a:xfrm>
          <a:prstGeom prst="rect">
            <a:avLst/>
          </a:prstGeom>
        </p:spPr>
      </p:pic>
    </p:spTree>
    <p:extLst>
      <p:ext uri="{BB962C8B-B14F-4D97-AF65-F5344CB8AC3E}">
        <p14:creationId xmlns:p14="http://schemas.microsoft.com/office/powerpoint/2010/main" val="1578730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43"/>
          <p:cNvPicPr preferRelativeResize="0"/>
          <p:nvPr/>
        </p:nvPicPr>
        <p:blipFill rotWithShape="1">
          <a:blip r:embed="rId3">
            <a:alphaModFix/>
          </a:blip>
          <a:srcRect/>
          <a:stretch/>
        </p:blipFill>
        <p:spPr>
          <a:xfrm>
            <a:off x="872750" y="534650"/>
            <a:ext cx="7339675" cy="4171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044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43*75"/>
  <p:tag name="TABLE_ENDDRAG_RECT" val="18*180*643*7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632*170"/>
  <p:tag name="TABLE_ENDDRAG_RECT" val="18*296*632*170"/>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470</TotalTime>
  <Words>3360</Words>
  <Application>Microsoft Office PowerPoint</Application>
  <PresentationFormat>On-screen Show (16:9)</PresentationFormat>
  <Paragraphs>382</Paragraphs>
  <Slides>42</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42</vt:i4>
      </vt:variant>
    </vt:vector>
  </HeadingPairs>
  <TitlesOfParts>
    <vt:vector size="48" baseType="lpstr">
      <vt:lpstr>Arial</vt:lpstr>
      <vt:lpstr>Calibri</vt:lpstr>
      <vt:lpstr>Noto Sans Symbols</vt:lpstr>
      <vt:lpstr>Times New Roman</vt:lpstr>
      <vt:lpstr>Simple Light</vt:lpstr>
      <vt:lpstr>Office Theme</vt:lpstr>
      <vt:lpstr>      CMR INSTITUTE OF TECHNOLOGY:HYDERABAD             Department of Computer Science and Engineering                            </vt:lpstr>
      <vt:lpstr>PowerPoint Presentation</vt:lpstr>
      <vt:lpstr>UNIT-III Cyber Offences</vt:lpstr>
      <vt:lpstr>Introduction</vt:lpstr>
      <vt:lpstr>PowerPoint Presentation</vt:lpstr>
      <vt:lpstr>How Criminals plan the attack?</vt:lpstr>
      <vt:lpstr>PowerPoint Presentation</vt:lpstr>
      <vt:lpstr>PowerPoint Presentation</vt:lpstr>
      <vt:lpstr>PowerPoint Presentation</vt:lpstr>
      <vt:lpstr>PowerPoint Presentation</vt:lpstr>
      <vt:lpstr>PowerPoint Presentation</vt:lpstr>
      <vt:lpstr>Social Engineering</vt:lpstr>
      <vt:lpstr>Social Engineering</vt:lpstr>
      <vt:lpstr>PowerPoint Presentation</vt:lpstr>
      <vt:lpstr>PowerPoint Presentation</vt:lpstr>
      <vt:lpstr>Cyber Stalking</vt:lpstr>
      <vt:lpstr>PowerPoint Presentation</vt:lpstr>
      <vt:lpstr>PowerPoint Presentation</vt:lpstr>
      <vt:lpstr>PowerPoint Presentation</vt:lpstr>
      <vt:lpstr>PowerPoint Presentation</vt:lpstr>
      <vt:lpstr>Cybercafe and Cybercrimes </vt:lpstr>
      <vt:lpstr>PowerPoint Presentation</vt:lpstr>
      <vt:lpstr>PowerPoint Presentation</vt:lpstr>
      <vt:lpstr>Cybercriminals can either install malicious programs such as keyloggers and/or Spyware or launch an attack on the target.  Here are a few tips for safety and security while using the computer in a cybercafe: Always logout Stay with the computer Clear history and temporary files Be alert Avoid online financial transactions Change passwords Virtual keyboard Security warnings</vt:lpstr>
      <vt:lpstr>Beyond the Syllabus: Awareness Theory</vt:lpstr>
      <vt:lpstr>10 Common Tricks Used by Scammers:</vt:lpstr>
      <vt:lpstr>PowerPoint Presentation</vt:lpstr>
      <vt:lpstr>Stay Safe:</vt:lpstr>
      <vt:lpstr>Report Scams:</vt:lpstr>
      <vt:lpstr>PowerPoint Presentation</vt:lpstr>
      <vt:lpstr>PowerPoint Presentation</vt:lpstr>
      <vt:lpstr>Financial Fraud Brochures final.pdf</vt:lpstr>
      <vt:lpstr>Botnet: The fuel of Cybercrime</vt:lpstr>
      <vt:lpstr>How botnets creates the business</vt:lpstr>
      <vt:lpstr>PowerPoint Presentation</vt:lpstr>
      <vt:lpstr>Cloud Security</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 Cyber Offences</dc:title>
  <cp:lastModifiedBy>S Alagumuthukrishnan</cp:lastModifiedBy>
  <cp:revision>11</cp:revision>
  <dcterms:modified xsi:type="dcterms:W3CDTF">2024-10-22T10:34:09Z</dcterms:modified>
</cp:coreProperties>
</file>