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41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89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91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13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96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639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7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75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48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22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69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8E1-CB74-4B0A-BBDA-386938A395BB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AA37FC2-2FD3-4431-A28B-807343DFE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0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2280-AF3F-862C-041A-7A3601DD9E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RSA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355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4B17-6120-DF43-1A7C-30D1249F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Experiment 2: Implementation of Cryptanalysis using RSA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A83CA-FD49-BB3B-1439-EF4344911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RSA (Rivest–Shamir–Adleman) is an </a:t>
            </a:r>
            <a:r>
              <a:rPr lang="en-IN" b="1" dirty="0"/>
              <a:t>asymmetric encryption algorithm</a:t>
            </a:r>
            <a:r>
              <a:rPr lang="en-IN" dirty="0"/>
              <a:t> used to securely transmit data. It uses </a:t>
            </a:r>
            <a:r>
              <a:rPr lang="en-IN" b="1" dirty="0"/>
              <a:t>two different keys</a:t>
            </a:r>
            <a:r>
              <a:rPr lang="en-IN" dirty="0"/>
              <a:t>:</a:t>
            </a:r>
          </a:p>
          <a:p>
            <a:pPr lvl="0" algn="just"/>
            <a:r>
              <a:rPr lang="en-IN" b="1" dirty="0"/>
              <a:t>Public Key</a:t>
            </a:r>
            <a:r>
              <a:rPr lang="en-IN" dirty="0"/>
              <a:t> – Used for encryption (shared with everyone)</a:t>
            </a:r>
          </a:p>
          <a:p>
            <a:pPr lvl="0" algn="just"/>
            <a:r>
              <a:rPr lang="en-IN" b="1" dirty="0"/>
              <a:t>Private Key</a:t>
            </a:r>
            <a:r>
              <a:rPr lang="en-IN" dirty="0"/>
              <a:t> – Used for decryption (kept secret)</a:t>
            </a:r>
          </a:p>
          <a:p>
            <a:pPr algn="just"/>
            <a:r>
              <a:rPr lang="en-IN" dirty="0"/>
              <a:t>Even if someone knows the public key, they cannot easily determine the private key</a:t>
            </a:r>
          </a:p>
        </p:txBody>
      </p:sp>
    </p:spTree>
    <p:extLst>
      <p:ext uri="{BB962C8B-B14F-4D97-AF65-F5344CB8AC3E}">
        <p14:creationId xmlns:p14="http://schemas.microsoft.com/office/powerpoint/2010/main" val="421264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D203-69D7-DA42-7B7C-AA963314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Steps in RSA Algorithm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0231-B4D2-800D-BD01-4491A048B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Step 1: Choose Two Prime Numbers</a:t>
            </a:r>
            <a:endParaRPr lang="en-IN" dirty="0"/>
          </a:p>
          <a:p>
            <a:r>
              <a:rPr lang="en-IN" dirty="0"/>
              <a:t>Choose two small prime numbers.</a:t>
            </a:r>
          </a:p>
          <a:p>
            <a:pPr lvl="1"/>
            <a:r>
              <a:rPr lang="en-IN" dirty="0"/>
              <a:t>(p = 3)</a:t>
            </a:r>
          </a:p>
          <a:p>
            <a:pPr lvl="1"/>
            <a:r>
              <a:rPr lang="en-IN" dirty="0"/>
              <a:t>(q = 5)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Step 2: Calculate (n)</a:t>
            </a:r>
            <a:endParaRPr lang="en-IN" dirty="0"/>
          </a:p>
          <a:p>
            <a:r>
              <a:rPr lang="en-IN" dirty="0"/>
              <a:t>Multiply the two prime numbers.</a:t>
            </a:r>
          </a:p>
          <a:p>
            <a:r>
              <a:rPr lang="en-IN" dirty="0"/>
              <a:t>[</a:t>
            </a:r>
            <a:br>
              <a:rPr lang="en-IN" dirty="0"/>
            </a:br>
            <a:r>
              <a:rPr lang="en-IN" dirty="0"/>
              <a:t>n = p *q</a:t>
            </a:r>
          </a:p>
          <a:p>
            <a:r>
              <a:rPr lang="en-IN" dirty="0"/>
              <a:t>n=3*5=15</a:t>
            </a:r>
            <a:br>
              <a:rPr lang="en-IN" dirty="0"/>
            </a:br>
            <a:r>
              <a:rPr lang="en-IN" dirty="0"/>
              <a:t>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0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338A3-82A9-3997-9DF7-FB5AFA1857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4840" y="413384"/>
                <a:ext cx="10515600" cy="563181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Step 3: Calculate Euler's Totient Function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𝜙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  <m:r>
                      <a:rPr lang="en-IN"/>
                      <m:t>=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𝑝</m:t>
                        </m:r>
                        <m:r>
                          <a:rPr lang="en-IN"/>
                          <m:t>−1</m:t>
                        </m:r>
                      </m:e>
                    </m:d>
                    <m:d>
                      <m:dPr>
                        <m:ctrlPr>
                          <a:rPr lang="en-IN" i="1" smtClean="0"/>
                        </m:ctrlPr>
                      </m:dPr>
                      <m:e>
                        <m:r>
                          <a:rPr lang="en-IN" i="1"/>
                          <m:t>𝑞</m:t>
                        </m:r>
                        <m:r>
                          <a:rPr lang="en-IN"/>
                          <m:t>−1</m:t>
                        </m:r>
                      </m:e>
                    </m:d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IN"/>
                      <m:t>=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/>
                          <m:t>3−1</m:t>
                        </m:r>
                      </m:e>
                    </m:d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/>
                          <m:t>−1</m:t>
                        </m:r>
                      </m:e>
                    </m:d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IN"/>
                      <m:t>=2×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/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b="1" dirty="0"/>
                  <a:t>Step 4: Choose Public Key (e)</a:t>
                </a:r>
              </a:p>
              <a:p>
                <a:r>
                  <a:rPr lang="en-IN" dirty="0"/>
                  <a:t>Choose a number </a:t>
                </a:r>
                <a:r>
                  <a:rPr lang="en-IN" b="1" dirty="0"/>
                  <a:t>e</a:t>
                </a:r>
                <a:r>
                  <a:rPr lang="en-IN" dirty="0"/>
                  <a:t> such that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1&lt;</m:t>
                    </m:r>
                    <m:r>
                      <a:rPr lang="en-IN" i="1"/>
                      <m:t>𝑒</m:t>
                    </m:r>
                    <m:r>
                      <a:rPr lang="en-IN"/>
                      <m:t>&lt;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dirty="0"/>
              </a:p>
              <a:p>
                <a:r>
                  <a:rPr lang="en-IN" dirty="0" err="1"/>
                  <a:t>gcd</a:t>
                </a:r>
                <a:r>
                  <a:rPr lang="en-IN" dirty="0"/>
                  <a:t>(e,8)=1 </a:t>
                </a:r>
              </a:p>
              <a:p>
                <a:r>
                  <a:rPr lang="en-IN" dirty="0"/>
                  <a:t>Choose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𝑒</m:t>
                    </m:r>
                    <m:r>
                      <a:rPr lang="en-IN"/>
                      <m:t>=3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Since </a:t>
                </a:r>
                <a:r>
                  <a:rPr lang="en-IN" dirty="0" err="1"/>
                  <a:t>gcd</a:t>
                </a:r>
                <a:r>
                  <a:rPr lang="en-IN" dirty="0"/>
                  <a:t>(3,8)=1, it is valid.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338A3-82A9-3997-9DF7-FB5AFA185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840" y="413384"/>
                <a:ext cx="10515600" cy="5631815"/>
              </a:xfrm>
              <a:blipFill>
                <a:blip r:embed="rId2"/>
                <a:stretch>
                  <a:fillRect l="-464" t="-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32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D57A1-E3BD-F21A-32C1-4ABAD9A615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6720"/>
                <a:ext cx="10515600" cy="5750243"/>
              </a:xfrm>
            </p:spPr>
            <p:txBody>
              <a:bodyPr>
                <a:normAutofit/>
              </a:bodyPr>
              <a:lstStyle/>
              <a:p>
                <a:r>
                  <a:rPr lang="en-IN" b="1" dirty="0"/>
                  <a:t>Step 5: Find Private Key (d)</a:t>
                </a:r>
              </a:p>
              <a:p>
                <a:r>
                  <a:rPr lang="en-IN" dirty="0"/>
                  <a:t>Find </a:t>
                </a:r>
                <a:r>
                  <a:rPr lang="en-IN" b="1" dirty="0"/>
                  <a:t>d</a:t>
                </a:r>
                <a:r>
                  <a:rPr lang="en-IN" dirty="0"/>
                  <a:t> such that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IN"/>
                        </m:ctrlPr>
                      </m:dPr>
                      <m:e>
                        <m:r>
                          <a:rPr lang="en-IN" i="1"/>
                          <m:t>𝑑</m:t>
                        </m:r>
                        <m:r>
                          <a:rPr lang="en-IN"/>
                          <m:t>×</m:t>
                        </m:r>
                        <m:r>
                          <a:rPr lang="en-IN" i="1"/>
                          <m:t>𝑒</m:t>
                        </m:r>
                      </m:e>
                    </m:d>
                    <m:r>
                      <m:rPr>
                        <m:nor/>
                      </m:rPr>
                      <a:rPr lang="en-IN"/>
                      <m:t>  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8</m:t>
                    </m:r>
                    <m:r>
                      <a:rPr lang="en-IN"/>
                      <m:t>=1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Substitute </a:t>
                </a:r>
                <a14:m>
                  <m:oMath xmlns:m="http://schemas.openxmlformats.org/officeDocument/2006/math">
                    <m:r>
                      <a:rPr lang="en-IN" i="1"/>
                      <m:t>𝑒</m:t>
                    </m:r>
                    <m:r>
                      <a:rPr lang="en-IN"/>
                      <m:t>=3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Try different values:</a:t>
                </a:r>
              </a:p>
              <a:p>
                <a:r>
                  <a:rPr lang="en-IN" dirty="0"/>
                  <a:t>3×1=3 </a:t>
                </a:r>
              </a:p>
              <a:p>
                <a:r>
                  <a:rPr lang="en-IN" dirty="0"/>
                  <a:t>3x2=6</a:t>
                </a:r>
              </a:p>
              <a:p>
                <a:r>
                  <a:rPr lang="en-IN" dirty="0"/>
                  <a:t>3×3=9 </a:t>
                </a:r>
              </a:p>
              <a:p>
                <a:endParaRPr lang="en-IN" dirty="0"/>
              </a:p>
              <a:p>
                <a:r>
                  <a:rPr lang="en-IN" dirty="0"/>
                  <a:t>Therefore,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𝑑</m:t>
                    </m:r>
                    <m:r>
                      <a:rPr lang="en-IN"/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D57A1-E3BD-F21A-32C1-4ABAD9A61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6720"/>
                <a:ext cx="10515600" cy="5750243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565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E6F27-BE39-5DF1-DA4D-AE4E8C1A94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28320"/>
                <a:ext cx="10515600" cy="564864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Encryption</a:t>
                </a:r>
              </a:p>
              <a:p>
                <a:r>
                  <a:rPr lang="en-IN" dirty="0"/>
                  <a:t>Suppose Alice wants to send the message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</m:t>
                    </m:r>
                    <m:r>
                      <a:rPr lang="en-IN"/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endParaRPr lang="en-IN" dirty="0"/>
              </a:p>
              <a:p>
                <a:r>
                  <a:rPr lang="en-IN" dirty="0"/>
                  <a:t>Encryption formula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i="1"/>
                      <m:t>𝐶</m:t>
                    </m:r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𝑀</m:t>
                        </m:r>
                      </m:e>
                      <m:sup>
                        <m:r>
                          <a:rPr lang="en-IN" i="1"/>
                          <m:t>𝑒</m:t>
                        </m:r>
                      </m:sup>
                    </m:sSup>
                    <m:r>
                      <m:rPr>
                        <m:nor/>
                      </m:rPr>
                      <a:rPr lang="en-IN"/>
                      <m:t> </m:t>
                    </m:r>
                  </m:oMath>
                </a14:m>
                <a:r>
                  <a:rPr lang="en-IN" dirty="0"/>
                  <a:t> mod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Substitute the values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𝐶</m:t>
                    </m:r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 smtClean="0"/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/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en-IN"/>
                      <m:t>  </m:t>
                    </m:r>
                    <m:r>
                      <m:rPr>
                        <m:nor/>
                      </m:rPr>
                      <a:rPr lang="en-IN" dirty="0" smtClean="0"/>
                      <m:t>mod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Calculate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/>
                          <m:t>3</m:t>
                        </m:r>
                      </m:sup>
                    </m:sSup>
                    <m:r>
                      <a:rPr lang="en-IN"/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nor/>
                      </m:rPr>
                      <a:rPr lang="en-IN"/>
                      <m:t>  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15</m:t>
                    </m:r>
                    <m:r>
                      <a:rPr lang="en-IN"/>
                      <m:t>=</m:t>
                    </m:r>
                  </m:oMath>
                </a14:m>
                <a:r>
                  <a:rPr lang="en-IN" b="0" dirty="0"/>
                  <a:t>8</a:t>
                </a:r>
              </a:p>
              <a:p>
                <a:r>
                  <a:rPr lang="en-IN" dirty="0"/>
                  <a:t>So the ciphertext is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𝐶</m:t>
                    </m:r>
                    <m:r>
                      <a:rPr lang="en-IN"/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E6F27-BE39-5DF1-DA4D-AE4E8C1A9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28320"/>
                <a:ext cx="10515600" cy="5648643"/>
              </a:xfrm>
              <a:blipFill>
                <a:blip r:embed="rId2"/>
                <a:stretch>
                  <a:fillRect l="-464" t="-5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327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CA25A-81F2-8B7F-58AA-9FF2484048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97840"/>
                <a:ext cx="10515600" cy="6228080"/>
              </a:xfrm>
            </p:spPr>
            <p:txBody>
              <a:bodyPr>
                <a:normAutofit/>
              </a:bodyPr>
              <a:lstStyle/>
              <a:p>
                <a:r>
                  <a:rPr lang="en-IN" b="1" dirty="0"/>
                  <a:t>Decryption</a:t>
                </a:r>
              </a:p>
              <a:p>
                <a:r>
                  <a:rPr lang="en-IN" dirty="0"/>
                  <a:t>Bob receives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𝐶</m:t>
                    </m:r>
                    <m:r>
                      <a:rPr lang="en-IN"/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IN" dirty="0"/>
              </a:p>
              <a:p>
                <a:r>
                  <a:rPr lang="en-IN" dirty="0"/>
                  <a:t>Decryption formula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</m:t>
                    </m:r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𝐶</m:t>
                        </m:r>
                      </m:e>
                      <m:sup>
                        <m:r>
                          <a:rPr lang="en-IN" i="1"/>
                          <m:t>𝑑</m:t>
                        </m:r>
                      </m:sup>
                    </m:sSup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b="0" i="0" smtClean="0"/>
                      <m:t>mod</m:t>
                    </m:r>
                    <m:r>
                      <m:rPr>
                        <m:nor/>
                      </m:rPr>
                      <a:rPr lang="en-IN"/>
                      <m:t>  </m:t>
                    </m:r>
                    <m:r>
                      <a:rPr lang="en-IN" i="1"/>
                      <m:t>𝑛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Substitute the values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</m:t>
                    </m:r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en-IN"/>
                      <m:t>  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b="0" i="0" smtClean="0"/>
                      <m:t>mod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Instead of calculating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directly, use repeated squaring.</a:t>
                </a:r>
              </a:p>
              <a:p>
                <a:r>
                  <a:rPr lang="en-IN" dirty="0"/>
                  <a:t>Since</a:t>
                </a:r>
              </a:p>
              <a:p>
                <a:r>
                  <a:rPr lang="en-IN" dirty="0"/>
                  <a:t>3=2+1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DCA25A-81F2-8B7F-58AA-9FF248404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97840"/>
                <a:ext cx="10515600" cy="6228080"/>
              </a:xfrm>
              <a:blipFill>
                <a:blip r:embed="rId2"/>
                <a:stretch>
                  <a:fillRect l="-522" t="-9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095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E725B-4D3A-5D2A-1670-662351C6A1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58800"/>
                <a:ext cx="10515600" cy="5618163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IN" dirty="0"/>
                  <a:t>Find the required powers.</a:t>
                </a:r>
              </a:p>
              <a:p>
                <a:r>
                  <a:rPr lang="en-IN" b="1" dirty="0"/>
                  <a:t>Step 1: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IN"/>
                          <m:t>8</m:t>
                        </m:r>
                      </m:e>
                      <m:sup>
                        <m:r>
                          <a:rPr lang="en-IN"/>
                          <m:t>1</m:t>
                        </m:r>
                      </m:sup>
                    </m:sSup>
                    <m:r>
                      <m:rPr>
                        <m:nor/>
                      </m:rPr>
                      <a:rPr lang="en-IN"/>
                      <m:t> </m:t>
                    </m:r>
                    <m:r>
                      <m:rPr>
                        <m:nor/>
                      </m:rPr>
                      <a:rPr lang="en-US" b="0" i="0" smtClean="0"/>
                      <m:t>mod</m:t>
                    </m:r>
                    <m:r>
                      <m:rPr>
                        <m:nor/>
                      </m:rPr>
                      <a:rPr lang="en-IN"/>
                      <m:t> </m:t>
                    </m:r>
                    <m:r>
                      <a:rPr lang="en-IN"/>
                      <m:t>15=8</m:t>
                    </m:r>
                  </m:oMath>
                </a14:m>
                <a:endParaRPr lang="en-IN" b="0" dirty="0"/>
              </a:p>
              <a:p>
                <a:r>
                  <a:rPr lang="en-IN" b="1" dirty="0"/>
                  <a:t>Step 2: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IN"/>
                          <m:t>8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/>
                      <m:t>=64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64</m:t>
                    </m:r>
                    <m:r>
                      <m:rPr>
                        <m:nor/>
                      </m:rPr>
                      <a:rPr lang="en-IN"/>
                      <m:t>  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/>
                      <m:t>15=4</m:t>
                    </m:r>
                  </m:oMath>
                </a14:m>
                <a:endParaRPr lang="en-IN" b="0" dirty="0"/>
              </a:p>
              <a:p>
                <a:r>
                  <a:rPr lang="en-IN" b="1" dirty="0"/>
                  <a:t>Step 3: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IN"/>
                        </m:ctrlPr>
                      </m:sSupPr>
                      <m:e>
                        <m:r>
                          <a:rPr lang="en-IN"/>
                          <m:t>8</m:t>
                        </m:r>
                      </m:e>
                      <m:sup>
                        <m:r>
                          <a:rPr lang="en-IN"/>
                          <m:t>3</m:t>
                        </m:r>
                      </m:sup>
                    </m:sSup>
                    <m:r>
                      <a:rPr lang="en-IN"/>
                      <m:t>=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/>
                          <m:t>8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r>
                      <a:rPr lang="en-IN"/>
                      <m:t>×</m:t>
                    </m:r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/>
                          <m:t>8</m:t>
                        </m:r>
                      </m:e>
                      <m:sup>
                        <m:r>
                          <a:rPr lang="en-IN"/>
                          <m:t>1</m:t>
                        </m:r>
                      </m:sup>
                    </m:sSup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=4×8=32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32</m:t>
                    </m:r>
                    <m:r>
                      <m:rPr>
                        <m:nor/>
                      </m:rPr>
                      <a:rPr lang="en-IN"/>
                      <m:t> </m:t>
                    </m:r>
                    <m:r>
                      <m:rPr>
                        <m:nor/>
                      </m:rPr>
                      <a:rPr lang="en-US" b="0" i="0" smtClean="0"/>
                      <m:t>mod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a:rPr lang="en-IN"/>
                      <m:t>15=2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Therefore,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𝑀</m:t>
                    </m:r>
                    <m:r>
                      <a:rPr lang="en-IN"/>
                      <m:t>=2</m:t>
                    </m:r>
                  </m:oMath>
                </a14:m>
                <a:endParaRPr lang="en-IN" dirty="0"/>
              </a:p>
              <a:p>
                <a:r>
                  <a:rPr lang="en-IN" dirty="0"/>
                  <a:t>The original plaintext is recovered successfully.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7E725B-4D3A-5D2A-1670-662351C6A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58800"/>
                <a:ext cx="10515600" cy="5618163"/>
              </a:xfrm>
              <a:blipFill>
                <a:blip r:embed="rId2"/>
                <a:stretch>
                  <a:fillRect l="-290" t="-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40277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</TotalTime>
  <Words>339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Gill Sans MT</vt:lpstr>
      <vt:lpstr>Gallery</vt:lpstr>
      <vt:lpstr>RSA ALGORITHM</vt:lpstr>
      <vt:lpstr>Experiment 2: Implementation of Cryptanalysis using RSA</vt:lpstr>
      <vt:lpstr>Steps in RSA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Alagumuthukrishnan</dc:creator>
  <cp:lastModifiedBy>S Alagumuthukrishnan</cp:lastModifiedBy>
  <cp:revision>2</cp:revision>
  <dcterms:created xsi:type="dcterms:W3CDTF">2026-07-13T09:42:54Z</dcterms:created>
  <dcterms:modified xsi:type="dcterms:W3CDTF">2026-07-13T09:49:57Z</dcterms:modified>
</cp:coreProperties>
</file>